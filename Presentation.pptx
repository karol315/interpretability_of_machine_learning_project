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70" r:id="rId5"/>
    <p:sldId id="265" r:id="rId6"/>
    <p:sldId id="262" r:id="rId7"/>
    <p:sldId id="266" r:id="rId8"/>
    <p:sldId id="263" r:id="rId9"/>
    <p:sldId id="268" r:id="rId10"/>
    <p:sldId id="264" r:id="rId11"/>
    <p:sldId id="269" r:id="rId12"/>
    <p:sldId id="267" r:id="rId13"/>
    <p:sldId id="271" r:id="rId14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8C944B-FAEC-A948-1690-341FD8F99C0F}" v="1639" dt="2025-12-01T22:02:53.620"/>
    <p1510:client id="{C8392F86-90AA-4B99-815A-B3A6A27BAEEC}" v="366" dt="2025-12-01T21:59:16.224"/>
    <p1510:client id="{F19EBBF4-A170-4D1F-A7D9-5AAE76D0458A}" v="16" dt="2025-12-01T22:00:13.7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72" d="100"/>
          <a:sy n="72" d="100"/>
        </p:scale>
        <p:origin x="4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4585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396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074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367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7068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239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133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046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01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592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289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5984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3840">
          <p15:clr>
            <a:srgbClr val="F26B43"/>
          </p15:clr>
        </p15:guide>
        <p15:guide id="3" pos="7200">
          <p15:clr>
            <a:srgbClr val="F26B43"/>
          </p15:clr>
        </p15:guide>
        <p15:guide id="4" pos="6720">
          <p15:clr>
            <a:srgbClr val="F26B43"/>
          </p15:clr>
        </p15:guide>
        <p15:guide id="16" pos="480">
          <p15:clr>
            <a:srgbClr val="F26B43"/>
          </p15:clr>
        </p15:guide>
        <p15:guide id="23" orient="horz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l-PL" b="0" dirty="0">
                <a:ea typeface="+mj-lt"/>
                <a:cs typeface="+mj-lt"/>
              </a:rPr>
              <a:t>Automatyzacja Oceny Ryzyka Kredytowego Przedsiębiorstw</a:t>
            </a:r>
            <a:br>
              <a:rPr lang="pl-PL" b="0" dirty="0">
                <a:ea typeface="+mj-lt"/>
                <a:cs typeface="+mj-lt"/>
              </a:rPr>
            </a:br>
            <a:r>
              <a:rPr lang="pl-PL" sz="1800" b="0" dirty="0">
                <a:ea typeface="+mj-lt"/>
                <a:cs typeface="+mj-lt"/>
              </a:rPr>
              <a:t>Budowa, kalibracja i interpretacja systemu ratingowego</a:t>
            </a:r>
            <a:br>
              <a:rPr lang="pl-PL" b="0" dirty="0">
                <a:ea typeface="+mj-lt"/>
                <a:cs typeface="+mj-lt"/>
              </a:rPr>
            </a:br>
            <a:endParaRPr lang="en-US">
              <a:ea typeface="+mj-lt"/>
              <a:cs typeface="+mj-lt"/>
            </a:endParaRP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l-PL" dirty="0"/>
              <a:t>Karol Kacprzak, Piotr Wysocki</a:t>
            </a:r>
          </a:p>
        </p:txBody>
      </p:sp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D04915C-1057-63B6-5692-F338EC4AD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latin typeface="Calibri"/>
                <a:ea typeface="+mj-lt"/>
                <a:cs typeface="+mj-lt"/>
              </a:rPr>
              <a:t>Wyzwanie Biznesowe (PROBLEM)</a:t>
            </a:r>
            <a:r>
              <a:rPr lang="pl-PL" b="0" dirty="0">
                <a:ea typeface="+mj-lt"/>
                <a:cs typeface="+mj-lt"/>
              </a:rPr>
              <a:t> 📉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A3B8F7F-9B3A-C0D7-E9C4-F48E498F0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138953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pl-PL" b="1" dirty="0">
                <a:ea typeface="+mn-lt"/>
                <a:cs typeface="+mn-lt"/>
              </a:rPr>
              <a:t>Ryzyko Strat:</a:t>
            </a:r>
            <a:r>
              <a:rPr lang="pl-PL" dirty="0">
                <a:ea typeface="+mn-lt"/>
                <a:cs typeface="+mn-lt"/>
              </a:rPr>
              <a:t> Udzielanie kredytów firmom tracącym płynność.</a:t>
            </a:r>
            <a:endParaRPr lang="pl-PL" dirty="0"/>
          </a:p>
          <a:p>
            <a:r>
              <a:rPr lang="pl-PL" b="1" dirty="0">
                <a:ea typeface="+mn-lt"/>
                <a:cs typeface="+mn-lt"/>
              </a:rPr>
              <a:t>Niska Efektywność:</a:t>
            </a:r>
            <a:r>
              <a:rPr lang="pl-PL" dirty="0">
                <a:ea typeface="+mn-lt"/>
                <a:cs typeface="+mn-lt"/>
              </a:rPr>
              <a:t> Czasochłonna i błędogenna analiza ręczna.</a:t>
            </a:r>
            <a:endParaRPr lang="pl-PL" dirty="0"/>
          </a:p>
          <a:p>
            <a:r>
              <a:rPr lang="pl-PL" b="1" dirty="0">
                <a:ea typeface="+mn-lt"/>
                <a:cs typeface="+mn-lt"/>
              </a:rPr>
              <a:t>Brak Skalowalności:</a:t>
            </a:r>
            <a:r>
              <a:rPr lang="pl-PL" dirty="0">
                <a:ea typeface="+mn-lt"/>
                <a:cs typeface="+mn-lt"/>
              </a:rPr>
              <a:t> Trudność w szybkiej selekcji bezpiecznych klientów.</a:t>
            </a:r>
            <a:endParaRPr lang="pl-PL" dirty="0"/>
          </a:p>
          <a:p>
            <a:endParaRPr lang="pl-PL" b="1" dirty="0"/>
          </a:p>
          <a:p>
            <a:endParaRPr lang="pl-P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4865F2-4BC7-A5CA-E365-5DE45F9F8CEB}"/>
              </a:ext>
            </a:extLst>
          </p:cNvPr>
          <p:cNvSpPr txBox="1"/>
          <p:nvPr/>
        </p:nvSpPr>
        <p:spPr>
          <a:xfrm>
            <a:off x="1429313" y="4527137"/>
            <a:ext cx="7472474" cy="13946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30000"/>
              </a:lnSpc>
              <a:spcBef>
                <a:spcPts val="1000"/>
              </a:spcBef>
              <a:buFont typeface="Arial"/>
              <a:buChar char="•"/>
            </a:pPr>
            <a:r>
              <a:rPr lang="pl-PL" b="1" dirty="0"/>
              <a:t>Budowa Systemu </a:t>
            </a:r>
            <a:r>
              <a:rPr lang="pl-PL" b="1" dirty="0" err="1"/>
              <a:t>Scoringowego</a:t>
            </a:r>
            <a:endParaRPr lang="pl-PL"/>
          </a:p>
          <a:p>
            <a:pPr marL="285750" indent="-285750">
              <a:lnSpc>
                <a:spcPct val="130000"/>
              </a:lnSpc>
              <a:spcBef>
                <a:spcPts val="1000"/>
              </a:spcBef>
              <a:buFont typeface="Arial"/>
              <a:buChar char="•"/>
            </a:pPr>
            <a:r>
              <a:rPr lang="pl-PL" b="1" dirty="0"/>
              <a:t>Dwa Podejścia (</a:t>
            </a:r>
            <a:r>
              <a:rPr lang="pl-PL" b="1" dirty="0" err="1"/>
              <a:t>black-box</a:t>
            </a:r>
            <a:r>
              <a:rPr lang="pl-PL" b="1" dirty="0"/>
              <a:t> i regresja logistyczna)</a:t>
            </a:r>
            <a:endParaRPr lang="pl-PL" dirty="0"/>
          </a:p>
          <a:p>
            <a:pPr marL="285750" indent="-285750">
              <a:lnSpc>
                <a:spcPct val="130000"/>
              </a:lnSpc>
              <a:spcBef>
                <a:spcPts val="1000"/>
              </a:spcBef>
              <a:buFont typeface="Arial"/>
              <a:buChar char="•"/>
            </a:pPr>
            <a:r>
              <a:rPr lang="pl-PL" b="1" dirty="0"/>
              <a:t>Wsparcie Decyzji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16F698-381A-9601-C384-71A6BEC03588}"/>
              </a:ext>
            </a:extLst>
          </p:cNvPr>
          <p:cNvSpPr txBox="1"/>
          <p:nvPr/>
        </p:nvSpPr>
        <p:spPr>
          <a:xfrm>
            <a:off x="1443113" y="3804893"/>
            <a:ext cx="912862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Calibri"/>
                <a:ea typeface="Calibri"/>
                <a:cs typeface="Calibri"/>
              </a:rPr>
              <a:t>ROZWIĄZANIE</a:t>
            </a:r>
            <a:r>
              <a:rPr lang="en-US" sz="2800" dirty="0">
                <a:latin typeface="Calibri"/>
                <a:ea typeface="Calibri"/>
                <a:cs typeface="Calibri"/>
              </a:rPr>
              <a:t> </a:t>
            </a:r>
            <a:r>
              <a:rPr lang="en-US" sz="2800" dirty="0">
                <a:ea typeface="+mn-lt"/>
                <a:cs typeface="+mn-lt"/>
              </a:rPr>
              <a:t>🎯</a:t>
            </a:r>
          </a:p>
        </p:txBody>
      </p:sp>
    </p:spTree>
    <p:extLst>
      <p:ext uri="{BB962C8B-B14F-4D97-AF65-F5344CB8AC3E}">
        <p14:creationId xmlns:p14="http://schemas.microsoft.com/office/powerpoint/2010/main" val="2037483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F99BDD8-6786-C249-A369-0B8F82B3D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2400" dirty="0">
                <a:latin typeface="Calibri"/>
                <a:ea typeface="+mj-lt"/>
                <a:cs typeface="+mj-lt"/>
              </a:rPr>
              <a:t>Dane Wejściowe, ograniczenia i target</a:t>
            </a:r>
            <a:endParaRPr lang="pl-PL" sz="2400" dirty="0">
              <a:latin typeface="Calibri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80BEE2A-2A36-8D84-43BB-E3F59AF1A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l-PL" dirty="0">
                <a:ea typeface="+mn-lt"/>
                <a:cs typeface="+mn-lt"/>
              </a:rPr>
              <a:t>Analiza oparta na twardych danych finansowych (Bilans, </a:t>
            </a:r>
            <a:r>
              <a:rPr lang="pl-PL" dirty="0" err="1">
                <a:ea typeface="+mn-lt"/>
                <a:cs typeface="+mn-lt"/>
              </a:rPr>
              <a:t>RZiS</a:t>
            </a:r>
            <a:r>
              <a:rPr lang="pl-PL" dirty="0">
                <a:ea typeface="+mn-lt"/>
                <a:cs typeface="+mn-lt"/>
              </a:rPr>
              <a:t>, wskaźniki, finanse - łącznie ponad 200 zmiennych) podmiotów gospodarczych. </a:t>
            </a:r>
          </a:p>
          <a:p>
            <a:pPr marL="0" indent="0">
              <a:buNone/>
            </a:pPr>
            <a:r>
              <a:rPr lang="pl-PL" dirty="0">
                <a:ea typeface="+mn-lt"/>
                <a:cs typeface="+mn-lt"/>
              </a:rPr>
              <a:t>Model musi być skalibrowany do rzeczywistego poziomu ryzyka w portfelu, który wynosi średnio </a:t>
            </a:r>
            <a:r>
              <a:rPr lang="pl-PL" b="1" dirty="0">
                <a:ea typeface="+mn-lt"/>
                <a:cs typeface="+mn-lt"/>
              </a:rPr>
              <a:t>4%</a:t>
            </a:r>
            <a:r>
              <a:rPr lang="pl-PL" dirty="0">
                <a:ea typeface="+mn-lt"/>
                <a:cs typeface="+mn-lt"/>
              </a:rPr>
              <a:t> (Central </a:t>
            </a:r>
            <a:r>
              <a:rPr lang="pl-PL" err="1">
                <a:ea typeface="+mn-lt"/>
                <a:cs typeface="+mn-lt"/>
              </a:rPr>
              <a:t>Tendency</a:t>
            </a:r>
            <a:r>
              <a:rPr lang="pl-PL" dirty="0">
                <a:ea typeface="+mn-lt"/>
                <a:cs typeface="+mn-lt"/>
              </a:rPr>
              <a:t>).</a:t>
            </a:r>
          </a:p>
          <a:p>
            <a:pPr marL="0" indent="0">
              <a:buNone/>
            </a:pPr>
            <a:r>
              <a:rPr lang="pl-PL" dirty="0"/>
              <a:t>Model nie może być zbyt optymistyczny – priorytet to ochrona kapitału.</a:t>
            </a:r>
          </a:p>
          <a:p>
            <a:pPr marL="0" indent="0">
              <a:buNone/>
            </a:pPr>
            <a:r>
              <a:rPr lang="pl-PL" dirty="0"/>
              <a:t>Problem: klasyfikacja binarna </a:t>
            </a:r>
            <a:r>
              <a:rPr lang="pl-PL" dirty="0" err="1"/>
              <a:t>defaultu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33694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3D501-88DC-EDE6-580E-BF16083EA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4AEE3-9162-A1C6-F455-F311B6298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Próg Decyzyjny I wpływ biznesowy – black box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AD5B0-5927-A317-328F-BD97CB938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0C613-8EA2-49AF-AAE4-34430B334CE9}" type="datetime1">
              <a:rPr lang="pl-PL" smtClean="0"/>
              <a:t>02.12.2025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45C4A-8D78-B09A-18B9-12F68208F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798D6-E258-8418-B445-728FE122F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B4CD15-D6D6-0AED-3B44-80A560A4EEF0}"/>
              </a:ext>
            </a:extLst>
          </p:cNvPr>
          <p:cNvSpPr txBox="1"/>
          <p:nvPr/>
        </p:nvSpPr>
        <p:spPr>
          <a:xfrm>
            <a:off x="1449128" y="5768910"/>
            <a:ext cx="932962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Przy</a:t>
            </a:r>
            <a:r>
              <a:rPr lang="en-US" dirty="0"/>
              <a:t> </a:t>
            </a:r>
            <a:r>
              <a:rPr lang="en-US" dirty="0" err="1"/>
              <a:t>założeniu</a:t>
            </a:r>
            <a:r>
              <a:rPr lang="en-US" dirty="0"/>
              <a:t> </a:t>
            </a:r>
            <a:r>
              <a:rPr lang="en-US" dirty="0" err="1"/>
              <a:t>marży</a:t>
            </a:r>
            <a:r>
              <a:rPr lang="en-US" dirty="0"/>
              <a:t> 10% </a:t>
            </a:r>
            <a:r>
              <a:rPr lang="en-US" dirty="0" err="1"/>
              <a:t>przy</a:t>
            </a:r>
            <a:r>
              <a:rPr lang="en-US" dirty="0"/>
              <a:t> </a:t>
            </a:r>
            <a:r>
              <a:rPr lang="en-US" dirty="0" err="1"/>
              <a:t>spłaceniu</a:t>
            </a:r>
            <a:r>
              <a:rPr lang="en-US" dirty="0"/>
              <a:t> </a:t>
            </a:r>
            <a:r>
              <a:rPr lang="en-US" dirty="0" err="1"/>
              <a:t>kredytu</a:t>
            </a:r>
            <a:r>
              <a:rPr lang="en-US" dirty="0"/>
              <a:t> </a:t>
            </a:r>
            <a:r>
              <a:rPr lang="en-US" dirty="0" err="1"/>
              <a:t>oraz</a:t>
            </a:r>
            <a:r>
              <a:rPr lang="en-US" dirty="0"/>
              <a:t> </a:t>
            </a:r>
            <a:r>
              <a:rPr lang="en-US" dirty="0" err="1"/>
              <a:t>zarobków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kredycie</a:t>
            </a:r>
            <a:r>
              <a:rPr lang="en-US" dirty="0"/>
              <a:t> w </a:t>
            </a:r>
            <a:r>
              <a:rPr lang="en-US" dirty="0" err="1"/>
              <a:t>wysokości</a:t>
            </a:r>
            <a:r>
              <a:rPr lang="en-US" dirty="0"/>
              <a:t> </a:t>
            </a:r>
            <a:r>
              <a:rPr lang="en-US" dirty="0" err="1"/>
              <a:t>średnio</a:t>
            </a:r>
            <a:r>
              <a:rPr lang="en-US" dirty="0"/>
              <a:t> 10 </a:t>
            </a:r>
            <a:r>
              <a:rPr lang="en-US" dirty="0" err="1"/>
              <a:t>jednostek</a:t>
            </a:r>
            <a:r>
              <a:rPr lang="en-US" dirty="0"/>
              <a:t> </a:t>
            </a:r>
            <a:r>
              <a:rPr lang="en-US" dirty="0" err="1"/>
              <a:t>oraz</a:t>
            </a:r>
            <a:r>
              <a:rPr lang="en-US" dirty="0"/>
              <a:t> </a:t>
            </a:r>
            <a:r>
              <a:rPr lang="en-US" dirty="0" err="1"/>
              <a:t>stracie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defaultcie</a:t>
            </a:r>
            <a:r>
              <a:rPr lang="en-US" dirty="0"/>
              <a:t> 100 –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próbie</a:t>
            </a:r>
            <a:r>
              <a:rPr lang="en-US" dirty="0"/>
              <a:t> 400 </a:t>
            </a:r>
            <a:r>
              <a:rPr lang="en-US" dirty="0" err="1"/>
              <a:t>klientów</a:t>
            </a:r>
            <a:r>
              <a:rPr lang="en-US" dirty="0"/>
              <a:t> </a:t>
            </a:r>
            <a:r>
              <a:rPr lang="en-US" dirty="0" err="1"/>
              <a:t>nasz</a:t>
            </a:r>
            <a:r>
              <a:rPr lang="en-US" dirty="0"/>
              <a:t> </a:t>
            </a:r>
            <a:r>
              <a:rPr lang="en-US" dirty="0" err="1"/>
              <a:t>wynik</a:t>
            </a:r>
            <a:r>
              <a:rPr lang="en-US" dirty="0"/>
              <a:t> to: 1</a:t>
            </a:r>
            <a:r>
              <a:rPr lang="pl-PL" dirty="0"/>
              <a:t>002</a:t>
            </a:r>
            <a:r>
              <a:rPr lang="en-US" dirty="0"/>
              <a:t>. </a:t>
            </a:r>
            <a:r>
              <a:rPr lang="en-US" dirty="0" err="1"/>
              <a:t>Przekłada</a:t>
            </a:r>
            <a:r>
              <a:rPr lang="en-US" dirty="0"/>
              <a:t> </a:t>
            </a:r>
            <a:r>
              <a:rPr lang="en-US" dirty="0" err="1"/>
              <a:t>się</a:t>
            </a:r>
            <a:r>
              <a:rPr lang="en-US" dirty="0"/>
              <a:t> to </a:t>
            </a:r>
            <a:r>
              <a:rPr lang="en-US" dirty="0" err="1"/>
              <a:t>na</a:t>
            </a:r>
            <a:r>
              <a:rPr lang="en-US" dirty="0"/>
              <a:t> accept rate:</a:t>
            </a:r>
            <a:r>
              <a:rPr lang="pl-PL" dirty="0"/>
              <a:t>73.78% </a:t>
            </a:r>
            <a:r>
              <a:rPr lang="en-US" dirty="0" err="1"/>
              <a:t>oraz</a:t>
            </a:r>
            <a:r>
              <a:rPr lang="en-US" dirty="0"/>
              <a:t> default rate </a:t>
            </a:r>
            <a:r>
              <a:rPr lang="pl-PL" dirty="0"/>
              <a:t>6.02%</a:t>
            </a:r>
            <a:r>
              <a:rPr lang="en-US" dirty="0"/>
              <a:t>.</a:t>
            </a:r>
          </a:p>
        </p:txBody>
      </p:sp>
      <p:sp>
        <p:nvSpPr>
          <p:cNvPr id="7" name="Symbol zastępczy zawartości 6">
            <a:extLst>
              <a:ext uri="{FF2B5EF4-FFF2-40B4-BE49-F238E27FC236}">
                <a16:creationId xmlns:a16="http://schemas.microsoft.com/office/drawing/2014/main" id="{3FF3220C-7833-B46F-7232-79A70BCFD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0120C1E0-2501-9ED8-3C10-76EF54751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375" y="2181046"/>
            <a:ext cx="9329625" cy="3587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564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07F46-8C2F-C2C6-F0E8-6B2203ADF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"/>
                <a:ea typeface="Calibri"/>
                <a:cs typeface="Calibri"/>
              </a:rPr>
              <a:t>Próg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Decyzyjny</a:t>
            </a:r>
            <a:r>
              <a:rPr lang="en-US" dirty="0">
                <a:latin typeface="Calibri"/>
                <a:ea typeface="Calibri"/>
                <a:cs typeface="Calibri"/>
              </a:rPr>
              <a:t> I </a:t>
            </a:r>
            <a:r>
              <a:rPr lang="en-US" dirty="0" err="1">
                <a:latin typeface="Calibri"/>
                <a:ea typeface="Calibri"/>
                <a:cs typeface="Calibri"/>
              </a:rPr>
              <a:t>wpływ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biznesowy</a:t>
            </a:r>
            <a:r>
              <a:rPr lang="en-US" dirty="0">
                <a:latin typeface="Calibri"/>
                <a:ea typeface="Calibri"/>
                <a:cs typeface="Calibri"/>
              </a:rPr>
              <a:t> – </a:t>
            </a:r>
            <a:r>
              <a:rPr lang="pl-PL" dirty="0">
                <a:latin typeface="Calibri"/>
                <a:ea typeface="Calibri"/>
                <a:cs typeface="Calibri"/>
              </a:rPr>
              <a:t>Regresja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pic>
        <p:nvPicPr>
          <p:cNvPr id="7" name="Content Placeholder 6" descr="A graph of a graph and a graph of a graph&#10;&#10;AI-generated content may be incorrect.">
            <a:extLst>
              <a:ext uri="{FF2B5EF4-FFF2-40B4-BE49-F238E27FC236}">
                <a16:creationId xmlns:a16="http://schemas.microsoft.com/office/drawing/2014/main" id="{F648D43D-072D-E771-713B-3DF0784F7B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9566" y="2052360"/>
            <a:ext cx="9238434" cy="356253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72FCE-DA4E-67E1-48C3-63589665E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0C613-8EA2-49AF-AAE4-34430B334CE9}" type="datetime1">
              <a:rPr/>
              <a:t>02.12.2025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7F96C-C7AB-484A-20D2-EB452644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20A55-687A-4EF3-BC83-CB7521B61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5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BFAD21-3615-27F6-371C-5B473727ECB2}"/>
              </a:ext>
            </a:extLst>
          </p:cNvPr>
          <p:cNvSpPr txBox="1"/>
          <p:nvPr/>
        </p:nvSpPr>
        <p:spPr>
          <a:xfrm>
            <a:off x="1449128" y="5768910"/>
            <a:ext cx="932962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Przy</a:t>
            </a:r>
            <a:r>
              <a:rPr lang="en-US" dirty="0"/>
              <a:t> </a:t>
            </a:r>
            <a:r>
              <a:rPr lang="en-US" dirty="0" err="1"/>
              <a:t>założeniu</a:t>
            </a:r>
            <a:r>
              <a:rPr lang="en-US" dirty="0"/>
              <a:t> </a:t>
            </a:r>
            <a:r>
              <a:rPr lang="en-US" dirty="0" err="1"/>
              <a:t>marży</a:t>
            </a:r>
            <a:r>
              <a:rPr lang="en-US" dirty="0"/>
              <a:t> 10% </a:t>
            </a:r>
            <a:r>
              <a:rPr lang="en-US" dirty="0" err="1"/>
              <a:t>przy</a:t>
            </a:r>
            <a:r>
              <a:rPr lang="en-US" dirty="0"/>
              <a:t> </a:t>
            </a:r>
            <a:r>
              <a:rPr lang="en-US" dirty="0" err="1"/>
              <a:t>spłaceniu</a:t>
            </a:r>
            <a:r>
              <a:rPr lang="en-US" dirty="0"/>
              <a:t> </a:t>
            </a:r>
            <a:r>
              <a:rPr lang="en-US" dirty="0" err="1"/>
              <a:t>kredytu</a:t>
            </a:r>
            <a:r>
              <a:rPr lang="en-US" dirty="0"/>
              <a:t> </a:t>
            </a:r>
            <a:r>
              <a:rPr lang="en-US" dirty="0" err="1"/>
              <a:t>oraz</a:t>
            </a:r>
            <a:r>
              <a:rPr lang="en-US" dirty="0"/>
              <a:t> </a:t>
            </a:r>
            <a:r>
              <a:rPr lang="en-US" dirty="0" err="1"/>
              <a:t>zarobków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kredycie</a:t>
            </a:r>
            <a:r>
              <a:rPr lang="en-US" dirty="0"/>
              <a:t> w </a:t>
            </a:r>
            <a:r>
              <a:rPr lang="en-US" dirty="0" err="1"/>
              <a:t>wysokości</a:t>
            </a:r>
            <a:r>
              <a:rPr lang="en-US" dirty="0"/>
              <a:t> </a:t>
            </a:r>
            <a:r>
              <a:rPr lang="en-US" dirty="0" err="1"/>
              <a:t>średnio</a:t>
            </a:r>
            <a:r>
              <a:rPr lang="en-US" dirty="0"/>
              <a:t> 10 </a:t>
            </a:r>
            <a:r>
              <a:rPr lang="en-US" dirty="0" err="1"/>
              <a:t>jednostek</a:t>
            </a:r>
            <a:r>
              <a:rPr lang="en-US" dirty="0"/>
              <a:t> </a:t>
            </a:r>
            <a:r>
              <a:rPr lang="en-US" dirty="0" err="1"/>
              <a:t>oraz</a:t>
            </a:r>
            <a:r>
              <a:rPr lang="en-US" dirty="0"/>
              <a:t> </a:t>
            </a:r>
            <a:r>
              <a:rPr lang="en-US" dirty="0" err="1"/>
              <a:t>stracie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defaultcie</a:t>
            </a:r>
            <a:r>
              <a:rPr lang="en-US" dirty="0"/>
              <a:t> 100 –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próbie</a:t>
            </a:r>
            <a:r>
              <a:rPr lang="en-US" dirty="0"/>
              <a:t> 400 </a:t>
            </a:r>
            <a:r>
              <a:rPr lang="en-US" dirty="0" err="1"/>
              <a:t>klientów</a:t>
            </a:r>
            <a:r>
              <a:rPr lang="en-US" dirty="0"/>
              <a:t> </a:t>
            </a:r>
            <a:r>
              <a:rPr lang="en-US" dirty="0" err="1"/>
              <a:t>nasz</a:t>
            </a:r>
            <a:r>
              <a:rPr lang="en-US" dirty="0"/>
              <a:t> </a:t>
            </a:r>
            <a:r>
              <a:rPr lang="en-US" dirty="0" err="1"/>
              <a:t>wynik</a:t>
            </a:r>
            <a:r>
              <a:rPr lang="en-US" dirty="0"/>
              <a:t> to: </a:t>
            </a:r>
            <a:r>
              <a:rPr lang="en-US" dirty="0">
                <a:solidFill>
                  <a:srgbClr val="FFFFFF"/>
                </a:solidFill>
                <a:latin typeface="Trade Gothic Next Light"/>
              </a:rPr>
              <a:t>1057. </a:t>
            </a:r>
            <a:r>
              <a:rPr lang="en-US" dirty="0" err="1">
                <a:solidFill>
                  <a:srgbClr val="FFFFFF"/>
                </a:solidFill>
                <a:latin typeface="Trade Gothic Next Light"/>
              </a:rPr>
              <a:t>Przekłada</a:t>
            </a:r>
            <a:r>
              <a:rPr lang="en-US" dirty="0">
                <a:solidFill>
                  <a:srgbClr val="FFFFFF"/>
                </a:solidFill>
                <a:latin typeface="Trade Gothic Next Light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Trade Gothic Next Light"/>
              </a:rPr>
              <a:t>się</a:t>
            </a:r>
            <a:r>
              <a:rPr lang="en-US" dirty="0">
                <a:solidFill>
                  <a:srgbClr val="FFFFFF"/>
                </a:solidFill>
                <a:latin typeface="Trade Gothic Next Light"/>
              </a:rPr>
              <a:t> to </a:t>
            </a:r>
            <a:r>
              <a:rPr lang="en-US" dirty="0" err="1">
                <a:solidFill>
                  <a:srgbClr val="FFFFFF"/>
                </a:solidFill>
                <a:latin typeface="Trade Gothic Next Light"/>
              </a:rPr>
              <a:t>na</a:t>
            </a:r>
            <a:r>
              <a:rPr lang="en-US" dirty="0">
                <a:solidFill>
                  <a:srgbClr val="FFFFFF"/>
                </a:solidFill>
                <a:latin typeface="Trade Gothic Next Light"/>
              </a:rPr>
              <a:t> accept rate: 74.89% </a:t>
            </a:r>
            <a:r>
              <a:rPr lang="en-US" dirty="0" err="1">
                <a:solidFill>
                  <a:srgbClr val="FFFFFF"/>
                </a:solidFill>
                <a:latin typeface="Trade Gothic Next Light"/>
              </a:rPr>
              <a:t>oraz</a:t>
            </a:r>
            <a:r>
              <a:rPr lang="en-US" dirty="0">
                <a:solidFill>
                  <a:srgbClr val="FFFFFF"/>
                </a:solidFill>
                <a:latin typeface="Trade Gothic Next Light"/>
              </a:rPr>
              <a:t> default rate 5.93%.</a:t>
            </a:r>
            <a:endParaRPr lang="en-US" sz="1100" dirty="0">
              <a:solidFill>
                <a:srgbClr val="CCCCCC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98434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88DE925-11F5-9366-74B9-C7C34773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Interpretacja globalna - regresja</a:t>
            </a:r>
          </a:p>
        </p:txBody>
      </p:sp>
      <p:pic>
        <p:nvPicPr>
          <p:cNvPr id="4" name="Content Placeholder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4CD965F0-5265-0905-67BF-BB5DD32C79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839" y="2173941"/>
            <a:ext cx="6386593" cy="381000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D1FE2FD-A7FD-BE13-326F-5109AD596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6827980"/>
              </p:ext>
            </p:extLst>
          </p:nvPr>
        </p:nvGraphicFramePr>
        <p:xfrm>
          <a:off x="7519147" y="3126441"/>
          <a:ext cx="3980426" cy="2505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0600">
                  <a:extLst>
                    <a:ext uri="{9D8B030D-6E8A-4147-A177-3AD203B41FA5}">
                      <a16:colId xmlns:a16="http://schemas.microsoft.com/office/drawing/2014/main" val="2730290564"/>
                    </a:ext>
                  </a:extLst>
                </a:gridCol>
                <a:gridCol w="1689826">
                  <a:extLst>
                    <a:ext uri="{9D8B030D-6E8A-4147-A177-3AD203B41FA5}">
                      <a16:colId xmlns:a16="http://schemas.microsoft.com/office/drawing/2014/main" val="1320747504"/>
                    </a:ext>
                  </a:extLst>
                </a:gridCol>
              </a:tblGrid>
              <a:tr h="417537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 err="1">
                          <a:latin typeface="Trade Gothic Next Light"/>
                        </a:rPr>
                        <a:t>Przedział</a:t>
                      </a:r>
                      <a:r>
                        <a:rPr lang="en-US" sz="1800" b="0" i="0" u="none" strike="noStrike" noProof="0" dirty="0">
                          <a:latin typeface="Trade Gothic Next Light"/>
                        </a:rPr>
                        <a:t> </a:t>
                      </a:r>
                      <a:r>
                        <a:rPr lang="en-US" sz="1800" b="0" i="0" u="none" strike="noStrike" noProof="0" dirty="0" err="1">
                          <a:latin typeface="Trade Gothic Next Light"/>
                        </a:rPr>
                        <a:t>biznesowy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WoE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9845821"/>
                  </a:ext>
                </a:extLst>
              </a:tr>
              <a:tr h="4175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Trade Gothic Next Light"/>
                        </a:rPr>
                        <a:t>(-inf, 1.04]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Trade Gothic Next Light"/>
                        </a:rPr>
                        <a:t>-0.146603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469774"/>
                  </a:ext>
                </a:extLst>
              </a:tr>
              <a:tr h="4175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Trade Gothic Next Light"/>
                        </a:rPr>
                        <a:t>(1.04, 1.30]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Trade Gothic Next Light"/>
                        </a:rPr>
                        <a:t>-0.210625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6647693"/>
                  </a:ext>
                </a:extLst>
              </a:tr>
              <a:tr h="4175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Trade Gothic Next Light"/>
                        </a:rPr>
                        <a:t>(1.30, 1.81]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Trade Gothic Next Light"/>
                        </a:rPr>
                        <a:t>-0.744440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539005"/>
                  </a:ext>
                </a:extLst>
              </a:tr>
              <a:tr h="4175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Trade Gothic Next Light"/>
                        </a:rPr>
                        <a:t>(1.81, 3.23]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Trade Gothic Next Light"/>
                        </a:rPr>
                        <a:t>-0.085825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439410"/>
                  </a:ext>
                </a:extLst>
              </a:tr>
              <a:tr h="4175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Trade Gothic Next Light"/>
                        </a:rPr>
                        <a:t>3.23, inf]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Trade Gothic Next Light"/>
                        </a:rPr>
                        <a:t>0.725235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091811"/>
                  </a:ext>
                </a:extLst>
              </a:tr>
            </a:tbl>
          </a:graphicData>
        </a:graphic>
      </p:graphicFrame>
      <p:sp>
        <p:nvSpPr>
          <p:cNvPr id="3" name="pole tekstowe 2">
            <a:extLst>
              <a:ext uri="{FF2B5EF4-FFF2-40B4-BE49-F238E27FC236}">
                <a16:creationId xmlns:a16="http://schemas.microsoft.com/office/drawing/2014/main" id="{0A324B48-A114-F0B2-AE38-4231E87EFDA6}"/>
              </a:ext>
            </a:extLst>
          </p:cNvPr>
          <p:cNvSpPr txBox="1"/>
          <p:nvPr/>
        </p:nvSpPr>
        <p:spPr>
          <a:xfrm>
            <a:off x="7519147" y="2173941"/>
            <a:ext cx="3866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Profilo</a:t>
            </a:r>
            <a:r>
              <a:rPr lang="pl-P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WoE</a:t>
            </a:r>
            <a:r>
              <a:rPr lang="pl-P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dla wskaźnika mnożnika kapitału własnego:</a:t>
            </a:r>
          </a:p>
        </p:txBody>
      </p:sp>
    </p:spTree>
    <p:extLst>
      <p:ext uri="{BB962C8B-B14F-4D97-AF65-F5344CB8AC3E}">
        <p14:creationId xmlns:p14="http://schemas.microsoft.com/office/powerpoint/2010/main" val="1580519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95B09-68BE-AE91-E8C9-EA31AA771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Dane </a:t>
            </a:r>
            <a:r>
              <a:rPr lang="en-US" err="1">
                <a:latin typeface="Calibri"/>
                <a:ea typeface="Calibri"/>
                <a:cs typeface="Calibri"/>
              </a:rPr>
              <a:t>klienta</a:t>
            </a:r>
            <a:r>
              <a:rPr lang="en-US" dirty="0">
                <a:latin typeface="Calibri"/>
                <a:ea typeface="Calibri"/>
                <a:cs typeface="Calibri"/>
              </a:rPr>
              <a:t> – </a:t>
            </a:r>
            <a:r>
              <a:rPr lang="en-US" err="1">
                <a:latin typeface="Calibri"/>
                <a:ea typeface="Calibri"/>
                <a:cs typeface="Calibri"/>
              </a:rPr>
              <a:t>analiza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zmiany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wskaźnika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mnożnika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kapitału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własnego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na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predykcję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3D76A-5A65-5BB8-2354-D8987E7AB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0EEF0-31D2-4846-A48F-4F898E20454F}" type="datetime1">
              <a:rPr lang="pl-PL"/>
              <a:t>02.12.2025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9B6B9-3721-3AF7-DDF4-AF780E932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52AF8-4104-2ACF-B4D5-7CA82E763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7</a:t>
            </a:fld>
            <a:endParaRPr lang="en-US" dirty="0"/>
          </a:p>
        </p:txBody>
      </p:sp>
      <p:pic>
        <p:nvPicPr>
          <p:cNvPr id="7" name="Symbol zastępczy zawartości 6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F4D6A66A-3AD7-9B5F-0E21-393D045321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8671" y="2173918"/>
            <a:ext cx="7927042" cy="247762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E019C9F-C66C-5D54-AD73-7D11B10EA98D}"/>
              </a:ext>
            </a:extLst>
          </p:cNvPr>
          <p:cNvSpPr txBox="1"/>
          <p:nvPr/>
        </p:nvSpPr>
        <p:spPr>
          <a:xfrm>
            <a:off x="9108744" y="7509039"/>
            <a:ext cx="231598" cy="109876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Prawdopodobieństwo</a:t>
            </a:r>
            <a:r>
              <a:rPr lang="en-US" dirty="0"/>
              <a:t> </a:t>
            </a:r>
            <a:r>
              <a:rPr lang="en-US" dirty="0" err="1"/>
              <a:t>modelu</a:t>
            </a:r>
            <a:r>
              <a:rPr lang="en-US" dirty="0"/>
              <a:t> </a:t>
            </a:r>
            <a:r>
              <a:rPr lang="en-US" dirty="0" err="1"/>
              <a:t>przed</a:t>
            </a:r>
            <a:r>
              <a:rPr lang="en-US" dirty="0"/>
              <a:t> </a:t>
            </a:r>
            <a:r>
              <a:rPr lang="en-US" dirty="0" err="1"/>
              <a:t>zmianą</a:t>
            </a:r>
            <a:r>
              <a:rPr lang="en-US" dirty="0"/>
              <a:t>:</a:t>
            </a:r>
          </a:p>
          <a:p>
            <a:r>
              <a:rPr lang="en-US" sz="1200" dirty="0">
                <a:solidFill>
                  <a:srgbClr val="E3E3E3"/>
                </a:solidFill>
                <a:ea typeface="+mn-lt"/>
                <a:cs typeface="+mn-lt"/>
              </a:rPr>
              <a:t>6.91%</a:t>
            </a:r>
            <a:endParaRPr lang="en-US" dirty="0">
              <a:ea typeface="+mn-lt"/>
              <a:cs typeface="+mn-lt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B0448F6-8E0B-6ABC-B82C-F9A93D8C3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385793"/>
              </p:ext>
            </p:extLst>
          </p:nvPr>
        </p:nvGraphicFramePr>
        <p:xfrm>
          <a:off x="265043" y="5124173"/>
          <a:ext cx="11547723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2608">
                  <a:extLst>
                    <a:ext uri="{9D8B030D-6E8A-4147-A177-3AD203B41FA5}">
                      <a16:colId xmlns:a16="http://schemas.microsoft.com/office/drawing/2014/main" val="3616746182"/>
                    </a:ext>
                  </a:extLst>
                </a:gridCol>
                <a:gridCol w="1923023">
                  <a:extLst>
                    <a:ext uri="{9D8B030D-6E8A-4147-A177-3AD203B41FA5}">
                      <a16:colId xmlns:a16="http://schemas.microsoft.com/office/drawing/2014/main" val="44200537"/>
                    </a:ext>
                  </a:extLst>
                </a:gridCol>
                <a:gridCol w="1923023">
                  <a:extLst>
                    <a:ext uri="{9D8B030D-6E8A-4147-A177-3AD203B41FA5}">
                      <a16:colId xmlns:a16="http://schemas.microsoft.com/office/drawing/2014/main" val="996075121"/>
                    </a:ext>
                  </a:extLst>
                </a:gridCol>
                <a:gridCol w="1923023">
                  <a:extLst>
                    <a:ext uri="{9D8B030D-6E8A-4147-A177-3AD203B41FA5}">
                      <a16:colId xmlns:a16="http://schemas.microsoft.com/office/drawing/2014/main" val="1061376333"/>
                    </a:ext>
                  </a:extLst>
                </a:gridCol>
                <a:gridCol w="1923023">
                  <a:extLst>
                    <a:ext uri="{9D8B030D-6E8A-4147-A177-3AD203B41FA5}">
                      <a16:colId xmlns:a16="http://schemas.microsoft.com/office/drawing/2014/main" val="3347020848"/>
                    </a:ext>
                  </a:extLst>
                </a:gridCol>
                <a:gridCol w="1923023">
                  <a:extLst>
                    <a:ext uri="{9D8B030D-6E8A-4147-A177-3AD203B41FA5}">
                      <a16:colId xmlns:a16="http://schemas.microsoft.com/office/drawing/2014/main" val="1624627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err="1">
                          <a:solidFill>
                            <a:schemeClr val="bg1"/>
                          </a:solidFill>
                          <a:latin typeface="Trade Gothic Next Light"/>
                        </a:rPr>
                        <a:t>Wskaźnik</a:t>
                      </a:r>
                      <a:endParaRPr lang="en-US" sz="1800" b="0" i="0" u="none" strike="noStrike" noProof="0">
                        <a:solidFill>
                          <a:schemeClr val="bg1"/>
                        </a:solidFill>
                        <a:latin typeface="Trade Gothic Next Light"/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Koszyk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err="1">
                          <a:solidFill>
                            <a:schemeClr val="bg1"/>
                          </a:solidFill>
                        </a:rPr>
                        <a:t>WoE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err="1">
                          <a:solidFill>
                            <a:schemeClr val="bg1"/>
                          </a:solidFill>
                        </a:rPr>
                        <a:t>Prawdopodobieństwo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err="1">
                          <a:solidFill>
                            <a:schemeClr val="bg1"/>
                          </a:solidFill>
                        </a:rPr>
                        <a:t>Predykcja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355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>
                          <a:solidFill>
                            <a:schemeClr val="bg1"/>
                          </a:solidFill>
                        </a:rPr>
                        <a:t>Przed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bg1"/>
                          </a:solidFill>
                          <a:latin typeface="Trade Gothic Next Light"/>
                        </a:rPr>
                        <a:t>6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bg1"/>
                          </a:solidFill>
                          <a:latin typeface="Trade Gothic Next Light"/>
                        </a:rPr>
                        <a:t>(3.23, inf]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bg1"/>
                          </a:solidFill>
                          <a:latin typeface="Trade Gothic Next Light"/>
                        </a:rPr>
                        <a:t>0.725235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bg1"/>
                          </a:solidFill>
                          <a:latin typeface="Trade Gothic Next Light"/>
                        </a:rPr>
                        <a:t>6.9134%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67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Po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bg1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bg1"/>
                          </a:solidFill>
                          <a:latin typeface="Trade Gothic Next Light"/>
                        </a:rPr>
                        <a:t>(1.81, 3.23]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bg1"/>
                          </a:solidFill>
                        </a:rPr>
                        <a:t>-0.085825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bg1"/>
                          </a:solidFill>
                          <a:latin typeface="Trade Gothic Next Light"/>
                        </a:rPr>
                        <a:t>3.8219%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6662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5AD341E-BB7D-1779-2E38-8447881AE7D3}"/>
              </a:ext>
            </a:extLst>
          </p:cNvPr>
          <p:cNvSpPr txBox="1"/>
          <p:nvPr/>
        </p:nvSpPr>
        <p:spPr>
          <a:xfrm flipH="1" flipV="1">
            <a:off x="12569669" y="5863192"/>
            <a:ext cx="151958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Prawdopodobieństwo</a:t>
            </a:r>
            <a:endParaRPr lang="en-US"/>
          </a:p>
          <a:p>
            <a:r>
              <a:rPr lang="en-US" dirty="0"/>
              <a:t>po </a:t>
            </a:r>
            <a:r>
              <a:rPr lang="en-US" dirty="0" err="1"/>
              <a:t>zmianie</a:t>
            </a:r>
            <a:r>
              <a:rPr lang="en-US" dirty="0"/>
              <a:t>: </a:t>
            </a:r>
            <a:r>
              <a:rPr lang="en-US" dirty="0">
                <a:ea typeface="+mn-lt"/>
                <a:cs typeface="+mn-lt"/>
              </a:rPr>
              <a:t> 3.82%</a:t>
            </a:r>
          </a:p>
        </p:txBody>
      </p:sp>
    </p:spTree>
    <p:extLst>
      <p:ext uri="{BB962C8B-B14F-4D97-AF65-F5344CB8AC3E}">
        <p14:creationId xmlns:p14="http://schemas.microsoft.com/office/powerpoint/2010/main" val="3081065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1C180-F1C0-F9AD-4F30-398E20361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BF40868-D773-BA50-DE9E-42704C0B9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Interpretacja Globalna - </a:t>
            </a:r>
            <a:r>
              <a:rPr lang="pl-PL" dirty="0" err="1"/>
              <a:t>black</a:t>
            </a:r>
            <a:r>
              <a:rPr lang="pl-PL" dirty="0"/>
              <a:t> </a:t>
            </a:r>
            <a:r>
              <a:rPr lang="pl-PL" dirty="0" err="1"/>
              <a:t>box</a:t>
            </a:r>
            <a:endParaRPr lang="pl-PL" dirty="0"/>
          </a:p>
        </p:txBody>
      </p:sp>
      <p:pic>
        <p:nvPicPr>
          <p:cNvPr id="7" name="Symbol zastępczy zawartości 6" descr="Obraz zawierający tekst, numer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0D77D63E-AB8F-B9E8-4C5E-FEF3BDE166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338" y="2329130"/>
            <a:ext cx="9237662" cy="3723739"/>
          </a:xfrm>
        </p:spPr>
      </p:pic>
    </p:spTree>
    <p:extLst>
      <p:ext uri="{BB962C8B-B14F-4D97-AF65-F5344CB8AC3E}">
        <p14:creationId xmlns:p14="http://schemas.microsoft.com/office/powerpoint/2010/main" val="4249113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692D17A-95C5-7162-DD14-7801873CC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2000"/>
              <a:t>Wyniki dla </a:t>
            </a:r>
            <a:r>
              <a:rPr lang="pl-PL" sz="2000" err="1"/>
              <a:t>pkdKod</a:t>
            </a:r>
            <a:r>
              <a:rPr lang="pl-PL" sz="2000"/>
              <a:t>  - 6201 - „Działalność związana z oprogramowaniem”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BB2FD21-CCF8-212E-1D89-88EAA0267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AC423-9313-454E-A098-8D3021A3AC0B}" type="datetime1">
              <a:rPr lang="pl-PL"/>
              <a:t>02.12.2025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7A2711-FF1B-0672-D7C3-268BE0E0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99F9838-E2BD-C51C-1DFB-C1231E5EB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9</a:t>
            </a:fld>
            <a:endParaRPr lang="en-US"/>
          </a:p>
        </p:txBody>
      </p:sp>
      <p:pic>
        <p:nvPicPr>
          <p:cNvPr id="10" name="Symbol zastępczy zawartości 9" descr="Obraz zawierający tekst, zrzut ekranu, numer, Czcionka&#10;&#10;Zawartość wygenerowana przez AI może być niepoprawna.">
            <a:extLst>
              <a:ext uri="{FF2B5EF4-FFF2-40B4-BE49-F238E27FC236}">
                <a16:creationId xmlns:a16="http://schemas.microsoft.com/office/drawing/2014/main" id="{65D6D30B-CD3B-9AEE-B3AD-E76EDF02B0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338" y="2329130"/>
            <a:ext cx="9237662" cy="3723739"/>
          </a:xfrm>
        </p:spPr>
      </p:pic>
    </p:spTree>
    <p:extLst>
      <p:ext uri="{BB962C8B-B14F-4D97-AF65-F5344CB8AC3E}">
        <p14:creationId xmlns:p14="http://schemas.microsoft.com/office/powerpoint/2010/main" val="2534752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FBD3B6C-4E0E-66CE-9E94-320DE3C9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Interpretacja lokalna - </a:t>
            </a:r>
            <a:r>
              <a:rPr lang="pl-PL" dirty="0" err="1"/>
              <a:t>black</a:t>
            </a:r>
            <a:r>
              <a:rPr lang="pl-PL" dirty="0"/>
              <a:t> Box</a:t>
            </a:r>
            <a:r>
              <a:rPr lang="pl-PL"/>
              <a:t> – </a:t>
            </a:r>
            <a:r>
              <a:rPr lang="pl-PL" err="1"/>
              <a:t>missed</a:t>
            </a:r>
            <a:r>
              <a:rPr lang="pl-PL"/>
              <a:t> </a:t>
            </a:r>
            <a:r>
              <a:rPr lang="pl-PL" err="1"/>
              <a:t>Default</a:t>
            </a:r>
          </a:p>
        </p:txBody>
      </p:sp>
      <p:pic>
        <p:nvPicPr>
          <p:cNvPr id="7" name="Symbol zastępczy zawartości 6" descr="Obraz zawierający tekst, diagram, linia, numer&#10;&#10;Zawartość wygenerowana przez AI może być niepoprawna.">
            <a:extLst>
              <a:ext uri="{FF2B5EF4-FFF2-40B4-BE49-F238E27FC236}">
                <a16:creationId xmlns:a16="http://schemas.microsoft.com/office/drawing/2014/main" id="{9DC5D63E-DF73-FB64-8B00-76B786E2C2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3" y="2892922"/>
            <a:ext cx="12179107" cy="3422818"/>
          </a:xfrm>
        </p:spPr>
      </p:pic>
    </p:spTree>
    <p:extLst>
      <p:ext uri="{BB962C8B-B14F-4D97-AF65-F5344CB8AC3E}">
        <p14:creationId xmlns:p14="http://schemas.microsoft.com/office/powerpoint/2010/main" val="2293064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220D2-C51A-8C62-244B-7881A2AB8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A54BAA4-702A-B4E3-3166-FBEDDC18D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Interpretacja lokalna - </a:t>
            </a:r>
            <a:r>
              <a:rPr lang="pl-PL" err="1"/>
              <a:t>black</a:t>
            </a:r>
            <a:r>
              <a:rPr lang="pl-PL"/>
              <a:t> Box – True default</a:t>
            </a:r>
          </a:p>
        </p:txBody>
      </p:sp>
      <p:pic>
        <p:nvPicPr>
          <p:cNvPr id="7" name="Symbol zastępczy zawartości 6" descr="Obraz zawierający tekst, diagram, Czcionka, linia&#10;&#10;Zawartość wygenerowana przez AI może być niepoprawna.">
            <a:extLst>
              <a:ext uri="{FF2B5EF4-FFF2-40B4-BE49-F238E27FC236}">
                <a16:creationId xmlns:a16="http://schemas.microsoft.com/office/drawing/2014/main" id="{89C4D14E-6FD1-0E43-1740-3DAC856897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53" y="2985919"/>
            <a:ext cx="11988235" cy="3127802"/>
          </a:xfrm>
        </p:spPr>
      </p:pic>
    </p:spTree>
    <p:extLst>
      <p:ext uri="{BB962C8B-B14F-4D97-AF65-F5344CB8AC3E}">
        <p14:creationId xmlns:p14="http://schemas.microsoft.com/office/powerpoint/2010/main" val="3994010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F94DE-B165-6465-DA01-6C0AE1D90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Ryzyka</a:t>
            </a:r>
            <a:r>
              <a:rPr lang="en-US" dirty="0"/>
              <a:t> </a:t>
            </a:r>
            <a:r>
              <a:rPr lang="en-US" dirty="0" err="1"/>
              <a:t>oraz</a:t>
            </a:r>
            <a:r>
              <a:rPr lang="en-US" dirty="0"/>
              <a:t> </a:t>
            </a:r>
            <a:r>
              <a:rPr lang="en-US" dirty="0" err="1"/>
              <a:t>limity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10D77-46C0-1E7C-DD05-34D3D2D8B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+mn-lt"/>
                <a:cs typeface="+mn-lt"/>
              </a:rPr>
              <a:t>Reprezentatywność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próby</a:t>
            </a:r>
            <a:r>
              <a:rPr lang="en-US" dirty="0">
                <a:ea typeface="+mn-lt"/>
                <a:cs typeface="+mn-lt"/>
              </a:rPr>
              <a:t>: Model </a:t>
            </a:r>
            <a:r>
              <a:rPr lang="en-US" dirty="0" err="1">
                <a:ea typeface="+mn-lt"/>
                <a:cs typeface="+mn-lt"/>
              </a:rPr>
              <a:t>bazuje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danych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historycznych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dirty="0" err="1">
                <a:ea typeface="+mn-lt"/>
                <a:cs typeface="+mn-lt"/>
              </a:rPr>
              <a:t>Nagła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zmiana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koniunktury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gospodarczej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może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wymagać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rekalibracji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ryzyko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niestabilności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makroekonomicznej</a:t>
            </a:r>
            <a:r>
              <a:rPr lang="en-US" dirty="0">
                <a:ea typeface="+mn-lt"/>
                <a:cs typeface="+mn-lt"/>
              </a:rPr>
              <a:t>). </a:t>
            </a:r>
            <a:r>
              <a:rPr lang="en-US" dirty="0" err="1">
                <a:ea typeface="+mn-lt"/>
                <a:cs typeface="+mn-lt"/>
              </a:rPr>
              <a:t>Należy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śledzić</a:t>
            </a:r>
            <a:r>
              <a:rPr lang="en-US" dirty="0">
                <a:ea typeface="+mn-lt"/>
                <a:cs typeface="+mn-lt"/>
              </a:rPr>
              <a:t> PSI/CSI.</a:t>
            </a:r>
          </a:p>
          <a:p>
            <a:r>
              <a:rPr lang="en-US" dirty="0">
                <a:ea typeface="+mn-lt"/>
                <a:cs typeface="+mn-lt"/>
              </a:rPr>
              <a:t>Black-box: Model Black-Box </a:t>
            </a:r>
            <a:r>
              <a:rPr lang="en-US" dirty="0" err="1">
                <a:ea typeface="+mn-lt"/>
                <a:cs typeface="+mn-lt"/>
              </a:rPr>
              <a:t>wydaje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się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nieco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przeuczony</a:t>
            </a:r>
            <a:r>
              <a:rPr lang="pl-PL" dirty="0">
                <a:ea typeface="+mn-lt"/>
                <a:cs typeface="+mn-lt"/>
              </a:rPr>
              <a:t> (po poprawkach zdecydowanie mniej)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może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mieć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momentami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problemy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dla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nowych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danych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dirty="0" err="1">
                <a:ea typeface="+mn-lt"/>
                <a:cs typeface="+mn-lt"/>
              </a:rPr>
              <a:t>Złożone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zależności</a:t>
            </a:r>
            <a:r>
              <a:rPr lang="en-US" dirty="0">
                <a:ea typeface="+mn-lt"/>
                <a:cs typeface="+mn-lt"/>
              </a:rPr>
              <a:t> Na </a:t>
            </a:r>
            <a:r>
              <a:rPr lang="en-US" dirty="0" err="1">
                <a:ea typeface="+mn-lt"/>
                <a:cs typeface="+mn-lt"/>
              </a:rPr>
              <a:t>regresji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logistycznej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ryzyko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że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koszyki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WoE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nie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odzwierciedlą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prawdziwych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danych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7F836-0108-17FC-392A-8A3EF17D9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1EBF-D5B7-43F2-A5E2-415383AEF6CD}" type="datetime1">
              <a:rPr/>
              <a:t>02.12.2025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29211-B19E-E817-968A-4291FE460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13CB8-0518-0EC2-8F93-37A9F3C3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083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DA6518D-C4A0-7360-C4B1-AAA8C8FF7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Dziękujemy za uwagę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40EB0BA-B8FF-12E1-BD2E-A38271B38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DCE1E82-2445-CB5B-F5BF-630F14D2C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60714-C537-4438-9452-296D528D6BEB}" type="datetime1">
              <a:t>02.12.2025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12F05D4-4511-231D-E34E-57755D473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E004AD1-93AE-99D5-1963-6A376AD7C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905173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473</Words>
  <Application>Microsoft Office PowerPoint</Application>
  <PresentationFormat>Panoramiczny</PresentationFormat>
  <Paragraphs>82</Paragraphs>
  <Slides>13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13</vt:i4>
      </vt:variant>
    </vt:vector>
  </HeadingPairs>
  <TitlesOfParts>
    <vt:vector size="19" baseType="lpstr">
      <vt:lpstr>Arial</vt:lpstr>
      <vt:lpstr>Calibri</vt:lpstr>
      <vt:lpstr>Consolas</vt:lpstr>
      <vt:lpstr>Trade Gothic Next Cond</vt:lpstr>
      <vt:lpstr>Trade Gothic Next Light</vt:lpstr>
      <vt:lpstr>PortalVTI</vt:lpstr>
      <vt:lpstr>Automatyzacja Oceny Ryzyka Kredytowego Przedsiębiorstw Budowa, kalibracja i interpretacja systemu ratingowego </vt:lpstr>
      <vt:lpstr>Wyzwanie Biznesowe (PROBLEM) 📉</vt:lpstr>
      <vt:lpstr>Dane Wejściowe, ograniczenia i target</vt:lpstr>
      <vt:lpstr>Próg Decyzyjny I wpływ biznesowy – black box</vt:lpstr>
      <vt:lpstr>Próg Decyzyjny I wpływ biznesowy – Regresja</vt:lpstr>
      <vt:lpstr>Interpretacja globalna - regresja</vt:lpstr>
      <vt:lpstr>Dane klienta – analiza zmiany wskaźnika mnożnika kapitału własnego na predykcję</vt:lpstr>
      <vt:lpstr>Interpretacja Globalna - black box</vt:lpstr>
      <vt:lpstr>Wyniki dla pkdKod  - 6201 - „Działalność związana z oprogramowaniem”</vt:lpstr>
      <vt:lpstr>Interpretacja lokalna - black Box – missed Default</vt:lpstr>
      <vt:lpstr>Interpretacja lokalna - black Box – True default</vt:lpstr>
      <vt:lpstr>Ryzyka oraz limity</vt:lpstr>
      <vt:lpstr>Dziękujemy za uwagę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Kacprzak Karol 2 (STUD)</cp:lastModifiedBy>
  <cp:revision>624</cp:revision>
  <dcterms:created xsi:type="dcterms:W3CDTF">2025-12-01T19:51:00Z</dcterms:created>
  <dcterms:modified xsi:type="dcterms:W3CDTF">2025-12-02T23:00:12Z</dcterms:modified>
</cp:coreProperties>
</file>