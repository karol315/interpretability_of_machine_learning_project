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70" r:id="rId5"/>
    <p:sldId id="265" r:id="rId6"/>
    <p:sldId id="262" r:id="rId7"/>
    <p:sldId id="266" r:id="rId8"/>
    <p:sldId id="263" r:id="rId9"/>
    <p:sldId id="268" r:id="rId10"/>
    <p:sldId id="264" r:id="rId11"/>
    <p:sldId id="269" r:id="rId12"/>
    <p:sldId id="267" r:id="rId13"/>
    <p:sldId id="271" r:id="rId14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8C944B-FAEC-A948-1690-341FD8F99C0F}" v="1639" dt="2025-12-01T22:02:53.620"/>
    <p1510:client id="{C8392F86-90AA-4B99-815A-B3A6A27BAEEC}" v="366" dt="2025-12-01T21:59:16.224"/>
    <p1510:client id="{F19EBBF4-A170-4D1F-A7D9-5AAE76D0458A}" v="16" dt="2025-12-01T22:00:13.7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85" d="100"/>
          <a:sy n="85" d="100"/>
        </p:scale>
        <p:origin x="40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0F8CF-692C-4963-8B5E-D1C0928CF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29612" y="1013984"/>
            <a:ext cx="7714388" cy="3260635"/>
          </a:xfrm>
        </p:spPr>
        <p:txBody>
          <a:bodyPr anchor="b"/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19655-1613-4CC0-BBE9-BD2CB2C3C7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9612" y="4848464"/>
            <a:ext cx="7714388" cy="1085849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67FFF-6BC4-4DF0-BC55-B2C3BFD8E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270120-CDFC-48DE-A6EA-6DEEDD0E436A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389830-A1B7-484B-832C-F64A558BD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A8F727-72C8-47A9-8E54-AD8459028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ED5540-64E5-4258-ABA4-753F07B71B38}"/>
              </a:ext>
            </a:extLst>
          </p:cNvPr>
          <p:cNvCxnSpPr>
            <a:cxnSpLocks/>
          </p:cNvCxnSpPr>
          <p:nvPr/>
        </p:nvCxnSpPr>
        <p:spPr>
          <a:xfrm>
            <a:off x="1524000" y="4571506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585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EF94C-BCB1-4F4C-AF70-DD2A5C4E3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45445"/>
            <a:ext cx="9238434" cy="857559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909B75-A057-44B5-872F-DF01BDC8E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9566" y="2286000"/>
            <a:ext cx="9238434" cy="381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06260C-3219-4812-88F2-3162D37F29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9FAAF-C467-4C93-8ECD-39AF5A14D498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762B73-9C01-4BE3-A199-782BE6EBA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761492-EB56-4454-9D2A-8BB94AACB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396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980A128-A52A-402C-865B-1BF08D7F045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900447-3778-4AB7-ACB3-7C2313FE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1745" y="1287554"/>
            <a:ext cx="8284963" cy="3113064"/>
          </a:xfrm>
        </p:spPr>
        <p:txBody>
          <a:bodyPr anchor="t"/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910C9-BA3C-4D31-9C62-2C2408591F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1744" y="4619707"/>
            <a:ext cx="7722256" cy="1476293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742E8A-6B69-406B-A3DF-0A1B76832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7E480-B2BA-4553-A144-61E7F75833ED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665CF-4461-4BB8-8F3A-ED1CB1084C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98B27-5EF3-49F4-B3CE-F3CF419AE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7074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F3BA-5AD5-4F15-97B2-E4652D1D4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13411"/>
            <a:ext cx="9238434" cy="88959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A997B8-1FD3-40E6-A486-256EB41DB7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29566" y="2135565"/>
            <a:ext cx="4495800" cy="39604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3F4D8-AA9A-4AF7-86EA-E4D797B98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35565"/>
            <a:ext cx="4495800" cy="396043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08823E-BC08-4810-9BFF-35D2EA2AE7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0E682A-6B53-4B08-AE4D-4C5E659103CC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D2BFB-BB2C-4C4A-A6E1-DD223C2BE0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D369B2-12F8-4583-8A7F-523C9A3EF0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367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C717F-84B9-44BA-8DD6-680394AB1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79150"/>
            <a:ext cx="9238434" cy="82391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217D6-7448-4625-964F-5D82F65F11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9567" y="2013217"/>
            <a:ext cx="4495799" cy="704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0" cap="all" spc="3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3A534C-0B54-4327-99C0-4F0019FD21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429567" y="3048000"/>
            <a:ext cx="4495800" cy="304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9D4A63-0795-4B74-8C11-5FE7944118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13215"/>
            <a:ext cx="4495800" cy="70423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0" cap="all" spc="3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3D16F3-F747-441B-9854-27225954DE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048000"/>
            <a:ext cx="4495800" cy="3048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8168E2-6B97-486E-B0E4-4E7F5CDBB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9F0F6-BEBB-4894-ABB2-75C5CBE0DDB9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5D3E2B-2F4E-4347-A8E9-27EB7D0359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1FC4F5-6876-414E-9E30-84706A3F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70D2F04-5474-46B9-B838-858CDF4AB2D2}"/>
              </a:ext>
            </a:extLst>
          </p:cNvPr>
          <p:cNvCxnSpPr>
            <a:cxnSpLocks/>
          </p:cNvCxnSpPr>
          <p:nvPr/>
        </p:nvCxnSpPr>
        <p:spPr>
          <a:xfrm>
            <a:off x="6270727" y="2876662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ADEE893-BE45-47F3-BCF0-02424B3503CC}"/>
              </a:ext>
            </a:extLst>
          </p:cNvPr>
          <p:cNvSpPr/>
          <p:nvPr/>
        </p:nvSpPr>
        <p:spPr>
          <a:xfrm>
            <a:off x="-1171838" y="4592406"/>
            <a:ext cx="808262" cy="38971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FB5178A-4501-4B56-8BF1-D083D7B021CE}"/>
              </a:ext>
            </a:extLst>
          </p:cNvPr>
          <p:cNvCxnSpPr>
            <a:cxnSpLocks/>
          </p:cNvCxnSpPr>
          <p:nvPr/>
        </p:nvCxnSpPr>
        <p:spPr>
          <a:xfrm>
            <a:off x="1524000" y="2876662"/>
            <a:ext cx="971155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706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52109C6-041C-42BA-B507-8EA298046ED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7BF877-20DD-40F4-AEA8-E1B6D5350D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7DC874-15B5-4338-B7D1-8E393AB4C1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3E9E5F-17D9-4A30-9DA3-64E46A6DF111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66BAE3-24C5-483F-9141-D860A265E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9AEEB4-66F8-4008-B616-804FB9D91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72396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46C975-8FFB-4A4B-9213-774EE3901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C5F0-3BC3-4718-BCCA-24B5655EC864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BA744F-475D-4105-8E4A-0258155495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3FA64C-7966-4D6F-88D7-4B89F2A1D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1133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4ED5F-AB94-4DCF-8971-B8B2B55AF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3740" y="1558944"/>
            <a:ext cx="3279689" cy="1864196"/>
          </a:xfrm>
        </p:spPr>
        <p:txBody>
          <a:bodyPr anchor="b"/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EE4CB-68CF-4BF3-A891-8277AFD13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4000" y="762000"/>
            <a:ext cx="5333999" cy="5334000"/>
          </a:xfrm>
        </p:spPr>
        <p:txBody>
          <a:bodyPr anchor="ctr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 sz="2400">
                <a:solidFill>
                  <a:schemeClr val="tx1"/>
                </a:solidFill>
              </a:defRPr>
            </a:lvl2pPr>
            <a:lvl3pPr>
              <a:defRPr sz="2000">
                <a:solidFill>
                  <a:schemeClr val="tx1"/>
                </a:solidFill>
              </a:defRPr>
            </a:lvl3pPr>
            <a:lvl4pPr>
              <a:defRPr sz="1800">
                <a:solidFill>
                  <a:schemeClr val="tx1"/>
                </a:solidFill>
              </a:defRPr>
            </a:lvl4pPr>
            <a:lvl5pPr>
              <a:defRPr sz="18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292E72-B66D-40EE-B182-5585382A6D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43741" y="3649682"/>
            <a:ext cx="3233096" cy="1933605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73B694-B050-45F3-AE6F-A86A129F1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B8BD81-465B-40F2-9A54-9DF3B12AF598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8AE423-9CA5-46B3-96B1-7586AD0208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4B973D-F1F7-47BC-996D-6100B7C89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046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AE9949-4A1F-4DA9-9B75-A6180F954B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3543" y="1383126"/>
            <a:ext cx="3289886" cy="2045874"/>
          </a:xfrm>
        </p:spPr>
        <p:txBody>
          <a:bodyPr anchor="b"/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A8D794-C670-4569-93D9-0FF8B35AA7A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334001" y="762000"/>
            <a:ext cx="5333999" cy="5334000"/>
          </a:xfrm>
        </p:spPr>
        <p:txBody>
          <a:bodyPr anchor="t"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2486F6-AE67-4B34-B8E2-0B7576DC2E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433544" y="3649682"/>
            <a:ext cx="3243292" cy="1684317"/>
          </a:xfrm>
        </p:spPr>
        <p:txBody>
          <a:bodyPr/>
          <a:lstStyle>
            <a:lvl1pPr marL="0" indent="0" algn="r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98B11C-BB63-49A6-B488-29D4FBF8E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B3CEF-64EF-4C43-9530-8E9CBFD2CAD1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4B9166-6D36-4F0A-9ADD-33D49A0C3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B22B8F-7760-41B3-9053-DD90255B9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801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8A5DE-E5C6-4DB9-AD28-8F1EAC6F5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63E08E-9B2D-4740-9AC6-D5E1CFB95FC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429566" y="2229957"/>
            <a:ext cx="9238434" cy="3866043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4E3736-E8AA-4F58-9D3A-27050B287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F5BA7-0A17-4D30-9B66-E29324151C73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E95E84-15BC-478B-9DAB-15025867B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E9D98F-E0A8-4254-A957-7F17811D0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592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DE70F5-2276-4F91-9FC2-8DA4B52881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44000" y="1467699"/>
            <a:ext cx="1758461" cy="4628301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1856C5-C2FD-45E4-A631-AC06B5495B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182312" y="1467699"/>
            <a:ext cx="7839379" cy="4628301"/>
          </a:xfrm>
        </p:spPr>
        <p:txBody>
          <a:bodyPr vert="eaVert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E336EA-B6DD-4115-9C67-79A24C866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EBB1B-D40A-4DB9-B3DE-BAAE675B83CD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EA668B-1DAB-449C-9BA4-7B1572A22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C6567E-119D-4C98-93FF-73A332803A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2289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84152A-7FE0-4708-B7C1-DBEC8F1337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9566" y="1041621"/>
            <a:ext cx="9238434" cy="86138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1AB53-BAF9-439D-9451-47193CF2FF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29566" y="2285999"/>
            <a:ext cx="9238434" cy="3810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B96D9F-562A-496F-A530-A561994DC5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10471087" y="4891318"/>
            <a:ext cx="26732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 b="1" cap="all" spc="300" baseline="0">
                <a:solidFill>
                  <a:schemeClr val="tx1"/>
                </a:solidFill>
              </a:defRPr>
            </a:lvl1pPr>
          </a:lstStyle>
          <a:p>
            <a:fld id="{B70A3DFD-A535-46B2-84C1-61DC8B16A904}" type="datetimeFigureOut">
              <a:rPr lang="en-US" dirty="0"/>
              <a:t>12/2/2025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3060FE-AAC3-4FAE-9EB4-BCAE72D95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10473021" y="1609893"/>
            <a:ext cx="26694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 b="1" cap="all" spc="3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77EDB2-8F31-42FA-B253-62D241466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92908" y="3219853"/>
            <a:ext cx="629653" cy="42983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 b="1">
                <a:solidFill>
                  <a:schemeClr val="tx1">
                    <a:tint val="75000"/>
                  </a:schemeClr>
                </a:solidFill>
                <a:latin typeface="+mj-lt"/>
              </a:defRPr>
            </a:lvl1pPr>
          </a:lstStyle>
          <a:p>
            <a:fld id="{196A61CA-0502-4EE4-9724-96EA822543E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59840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2800" b="1" kern="1200" cap="all" spc="6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4320" indent="-274320" algn="l" defTabSz="914400" rtl="0" eaLnBrk="1" latinLnBrk="0" hangingPunct="1">
        <a:lnSpc>
          <a:spcPct val="130000"/>
        </a:lnSpc>
        <a:spcBef>
          <a:spcPts val="1000"/>
        </a:spcBef>
        <a:buSzPct val="8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30000"/>
        </a:lnSpc>
        <a:spcBef>
          <a:spcPts val="500"/>
        </a:spcBef>
        <a:buSzPct val="85000"/>
        <a:buFontTx/>
        <a:buNone/>
        <a:defRPr sz="16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18288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466344" indent="0" algn="l" defTabSz="914400" rtl="0" eaLnBrk="1" latinLnBrk="0" hangingPunct="1">
        <a:lnSpc>
          <a:spcPct val="130000"/>
        </a:lnSpc>
        <a:spcBef>
          <a:spcPts val="500"/>
        </a:spcBef>
        <a:buSzPct val="85000"/>
        <a:buFontTx/>
        <a:buNone/>
        <a:defRPr sz="1200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640080" indent="-182880" algn="l" defTabSz="914400" rtl="0" eaLnBrk="1" latinLnBrk="0" hangingPunct="1">
        <a:lnSpc>
          <a:spcPct val="130000"/>
        </a:lnSpc>
        <a:spcBef>
          <a:spcPts val="500"/>
        </a:spcBef>
        <a:buSzPct val="8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80">
          <p15:clr>
            <a:srgbClr val="F26B43"/>
          </p15:clr>
        </p15:guide>
        <p15:guide id="2" pos="3840">
          <p15:clr>
            <a:srgbClr val="F26B43"/>
          </p15:clr>
        </p15:guide>
        <p15:guide id="3" pos="7200">
          <p15:clr>
            <a:srgbClr val="F26B43"/>
          </p15:clr>
        </p15:guide>
        <p15:guide id="4" pos="6720">
          <p15:clr>
            <a:srgbClr val="F26B43"/>
          </p15:clr>
        </p15:guide>
        <p15:guide id="16" pos="480">
          <p15:clr>
            <a:srgbClr val="F26B43"/>
          </p15:clr>
        </p15:guide>
        <p15:guide id="23" orient="horz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pl-PL" b="0" dirty="0">
                <a:ea typeface="+mj-lt"/>
                <a:cs typeface="+mj-lt"/>
              </a:rPr>
              <a:t>Automatyzacja Oceny Ryzyka Kredytowego Przedsiębiorstw</a:t>
            </a:r>
            <a:br>
              <a:rPr lang="pl-PL" b="0" dirty="0">
                <a:ea typeface="+mj-lt"/>
                <a:cs typeface="+mj-lt"/>
              </a:rPr>
            </a:br>
            <a:r>
              <a:rPr lang="pl-PL" sz="1800" b="0" dirty="0">
                <a:ea typeface="+mj-lt"/>
                <a:cs typeface="+mj-lt"/>
              </a:rPr>
              <a:t>Budowa, kalibracja i interpretacja systemu ratingowego</a:t>
            </a:r>
            <a:br>
              <a:rPr lang="pl-PL" b="0" dirty="0">
                <a:ea typeface="+mj-lt"/>
                <a:cs typeface="+mj-lt"/>
              </a:rPr>
            </a:br>
            <a:endParaRPr lang="en-US">
              <a:ea typeface="+mj-lt"/>
              <a:cs typeface="+mj-lt"/>
            </a:endParaRPr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l-PL" dirty="0"/>
              <a:t>Karol Kacprzak, Piotr Wysocki</a:t>
            </a:r>
          </a:p>
        </p:txBody>
      </p:sp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D04915C-1057-63B6-5692-F338EC4AD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>
                <a:latin typeface="Calibri"/>
                <a:ea typeface="+mj-lt"/>
                <a:cs typeface="+mj-lt"/>
              </a:rPr>
              <a:t>Wyzwanie Biznesowe (PROBLEM)</a:t>
            </a:r>
            <a:r>
              <a:rPr lang="pl-PL" b="0" dirty="0">
                <a:ea typeface="+mj-lt"/>
                <a:cs typeface="+mj-lt"/>
              </a:rPr>
              <a:t> 📉</a:t>
            </a:r>
            <a:endParaRPr lang="en-US" dirty="0">
              <a:ea typeface="+mj-lt"/>
              <a:cs typeface="+mj-lt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3A3B8F7F-9B3A-C0D7-E9C4-F48E498F0A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9566" y="2286000"/>
            <a:ext cx="9238434" cy="1389530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pl-PL" b="1" dirty="0">
                <a:ea typeface="+mn-lt"/>
                <a:cs typeface="+mn-lt"/>
              </a:rPr>
              <a:t>Ryzyko Strat:</a:t>
            </a:r>
            <a:r>
              <a:rPr lang="pl-PL" dirty="0">
                <a:ea typeface="+mn-lt"/>
                <a:cs typeface="+mn-lt"/>
              </a:rPr>
              <a:t> Udzielanie kredytów firmom tracącym płynność.</a:t>
            </a:r>
            <a:endParaRPr lang="pl-PL" dirty="0"/>
          </a:p>
          <a:p>
            <a:r>
              <a:rPr lang="pl-PL" b="1" dirty="0">
                <a:ea typeface="+mn-lt"/>
                <a:cs typeface="+mn-lt"/>
              </a:rPr>
              <a:t>Niska Efektywność:</a:t>
            </a:r>
            <a:r>
              <a:rPr lang="pl-PL" dirty="0">
                <a:ea typeface="+mn-lt"/>
                <a:cs typeface="+mn-lt"/>
              </a:rPr>
              <a:t> Czasochłonna i błędogenna analiza ręczna.</a:t>
            </a:r>
            <a:endParaRPr lang="pl-PL" dirty="0"/>
          </a:p>
          <a:p>
            <a:r>
              <a:rPr lang="pl-PL" b="1" dirty="0">
                <a:ea typeface="+mn-lt"/>
                <a:cs typeface="+mn-lt"/>
              </a:rPr>
              <a:t>Brak Skalowalności:</a:t>
            </a:r>
            <a:r>
              <a:rPr lang="pl-PL" dirty="0">
                <a:ea typeface="+mn-lt"/>
                <a:cs typeface="+mn-lt"/>
              </a:rPr>
              <a:t> Trudność w szybkiej selekcji bezpiecznych klientów.</a:t>
            </a:r>
            <a:endParaRPr lang="pl-PL" dirty="0"/>
          </a:p>
          <a:p>
            <a:endParaRPr lang="pl-PL" b="1" dirty="0"/>
          </a:p>
          <a:p>
            <a:endParaRPr lang="pl-PL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4865F2-4BC7-A5CA-E365-5DE45F9F8CEB}"/>
              </a:ext>
            </a:extLst>
          </p:cNvPr>
          <p:cNvSpPr txBox="1"/>
          <p:nvPr/>
        </p:nvSpPr>
        <p:spPr>
          <a:xfrm>
            <a:off x="1429313" y="4527137"/>
            <a:ext cx="7472474" cy="13946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lnSpc>
                <a:spcPct val="130000"/>
              </a:lnSpc>
              <a:spcBef>
                <a:spcPts val="1000"/>
              </a:spcBef>
              <a:buFont typeface="Arial"/>
              <a:buChar char="•"/>
            </a:pPr>
            <a:r>
              <a:rPr lang="pl-PL" b="1" dirty="0"/>
              <a:t>Budowa Systemu </a:t>
            </a:r>
            <a:r>
              <a:rPr lang="pl-PL" b="1" dirty="0" err="1"/>
              <a:t>Scoringowego</a:t>
            </a:r>
            <a:endParaRPr lang="pl-PL"/>
          </a:p>
          <a:p>
            <a:pPr marL="285750" indent="-285750">
              <a:lnSpc>
                <a:spcPct val="130000"/>
              </a:lnSpc>
              <a:spcBef>
                <a:spcPts val="1000"/>
              </a:spcBef>
              <a:buFont typeface="Arial"/>
              <a:buChar char="•"/>
            </a:pPr>
            <a:r>
              <a:rPr lang="pl-PL" b="1" dirty="0"/>
              <a:t>Dwa Podejścia (</a:t>
            </a:r>
            <a:r>
              <a:rPr lang="pl-PL" b="1" dirty="0" err="1"/>
              <a:t>black-box</a:t>
            </a:r>
            <a:r>
              <a:rPr lang="pl-PL" b="1" dirty="0"/>
              <a:t> i regresja logistyczna)</a:t>
            </a:r>
            <a:endParaRPr lang="pl-PL" dirty="0"/>
          </a:p>
          <a:p>
            <a:pPr marL="285750" indent="-285750">
              <a:lnSpc>
                <a:spcPct val="130000"/>
              </a:lnSpc>
              <a:spcBef>
                <a:spcPts val="1000"/>
              </a:spcBef>
              <a:buFont typeface="Arial"/>
              <a:buChar char="•"/>
            </a:pPr>
            <a:r>
              <a:rPr lang="pl-PL" b="1" dirty="0"/>
              <a:t>Wsparcie Decyzji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6F698-381A-9601-C384-71A6BEC03588}"/>
              </a:ext>
            </a:extLst>
          </p:cNvPr>
          <p:cNvSpPr txBox="1"/>
          <p:nvPr/>
        </p:nvSpPr>
        <p:spPr>
          <a:xfrm>
            <a:off x="1443113" y="3804893"/>
            <a:ext cx="9128622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800" b="1" dirty="0">
                <a:latin typeface="Calibri"/>
                <a:ea typeface="Calibri"/>
                <a:cs typeface="Calibri"/>
              </a:rPr>
              <a:t>ROZWIĄZANIE</a:t>
            </a:r>
            <a:r>
              <a:rPr lang="en-US" sz="2800" dirty="0">
                <a:latin typeface="Calibri"/>
                <a:ea typeface="Calibri"/>
                <a:cs typeface="Calibri"/>
              </a:rPr>
              <a:t> </a:t>
            </a:r>
            <a:r>
              <a:rPr lang="en-US" sz="2800" dirty="0">
                <a:ea typeface="+mn-lt"/>
                <a:cs typeface="+mn-lt"/>
              </a:rPr>
              <a:t>🎯</a:t>
            </a:r>
          </a:p>
        </p:txBody>
      </p:sp>
    </p:spTree>
    <p:extLst>
      <p:ext uri="{BB962C8B-B14F-4D97-AF65-F5344CB8AC3E}">
        <p14:creationId xmlns:p14="http://schemas.microsoft.com/office/powerpoint/2010/main" val="2037483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F99BDD8-6786-C249-A369-0B8F82B3D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2400" dirty="0">
                <a:latin typeface="Calibri"/>
                <a:ea typeface="+mj-lt"/>
                <a:cs typeface="+mj-lt"/>
              </a:rPr>
              <a:t>Dane Wejściowe, ograniczenia i target</a:t>
            </a:r>
            <a:endParaRPr lang="pl-PL" sz="2400" dirty="0">
              <a:latin typeface="Calibri"/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80BEE2A-2A36-8D84-43BB-E3F59AF1AC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 dirty="0">
                <a:ea typeface="+mn-lt"/>
                <a:cs typeface="+mn-lt"/>
              </a:rPr>
              <a:t>Analiza oparta na twardych danych finansowych (Bilans, </a:t>
            </a:r>
            <a:r>
              <a:rPr lang="pl-PL" dirty="0" err="1">
                <a:ea typeface="+mn-lt"/>
                <a:cs typeface="+mn-lt"/>
              </a:rPr>
              <a:t>RZiS</a:t>
            </a:r>
            <a:r>
              <a:rPr lang="pl-PL" dirty="0">
                <a:ea typeface="+mn-lt"/>
                <a:cs typeface="+mn-lt"/>
              </a:rPr>
              <a:t>, wskaźniki, finanse - łącznie ponad 200 zmiennych) podmiotów gospodarczych. </a:t>
            </a:r>
          </a:p>
          <a:p>
            <a:pPr marL="0" indent="0">
              <a:buNone/>
            </a:pPr>
            <a:r>
              <a:rPr lang="pl-PL" dirty="0">
                <a:ea typeface="+mn-lt"/>
                <a:cs typeface="+mn-lt"/>
              </a:rPr>
              <a:t>Model musi być skalibrowany do rzeczywistego poziomu ryzyka w portfelu, który wynosi średnio </a:t>
            </a:r>
            <a:r>
              <a:rPr lang="pl-PL" b="1" dirty="0">
                <a:ea typeface="+mn-lt"/>
                <a:cs typeface="+mn-lt"/>
              </a:rPr>
              <a:t>4%</a:t>
            </a:r>
            <a:r>
              <a:rPr lang="pl-PL" dirty="0">
                <a:ea typeface="+mn-lt"/>
                <a:cs typeface="+mn-lt"/>
              </a:rPr>
              <a:t> (Central </a:t>
            </a:r>
            <a:r>
              <a:rPr lang="pl-PL" err="1">
                <a:ea typeface="+mn-lt"/>
                <a:cs typeface="+mn-lt"/>
              </a:rPr>
              <a:t>Tendency</a:t>
            </a:r>
            <a:r>
              <a:rPr lang="pl-PL" dirty="0">
                <a:ea typeface="+mn-lt"/>
                <a:cs typeface="+mn-lt"/>
              </a:rPr>
              <a:t>).</a:t>
            </a:r>
          </a:p>
          <a:p>
            <a:pPr marL="0" indent="0">
              <a:buNone/>
            </a:pPr>
            <a:r>
              <a:rPr lang="pl-PL" dirty="0"/>
              <a:t>Model nie może być zbyt optymistyczny – priorytet to ochrona kapitału.</a:t>
            </a:r>
          </a:p>
          <a:p>
            <a:pPr marL="0" indent="0">
              <a:buNone/>
            </a:pPr>
            <a:r>
              <a:rPr lang="pl-PL" dirty="0"/>
              <a:t>Problem: klasyfikacja binarna </a:t>
            </a:r>
            <a:r>
              <a:rPr lang="pl-PL" dirty="0" err="1"/>
              <a:t>defaultu</a:t>
            </a:r>
            <a:r>
              <a:rPr lang="pl-PL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336945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C3D501-88DC-EDE6-580E-BF16083EA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4AEE3-9162-A1C6-F455-F311B6298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Próg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Decyzyjny</a:t>
            </a:r>
            <a:r>
              <a:rPr lang="en-US" dirty="0">
                <a:latin typeface="Calibri"/>
                <a:ea typeface="Calibri"/>
                <a:cs typeface="Calibri"/>
              </a:rPr>
              <a:t> I </a:t>
            </a:r>
            <a:r>
              <a:rPr lang="en-US" dirty="0" err="1">
                <a:latin typeface="Calibri"/>
                <a:ea typeface="Calibri"/>
                <a:cs typeface="Calibri"/>
              </a:rPr>
              <a:t>wpływ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biznesowy</a:t>
            </a:r>
            <a:r>
              <a:rPr lang="en-US" dirty="0">
                <a:latin typeface="Calibri"/>
                <a:ea typeface="Calibri"/>
                <a:cs typeface="Calibri"/>
              </a:rPr>
              <a:t> – black box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BAD5B0-5927-A317-328F-BD97CB938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0C613-8EA2-49AF-AAE4-34430B334CE9}" type="datetime1">
              <a:rPr lang="pl-PL"/>
              <a:t>02.12.2025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45C4A-8D78-B09A-18B9-12F68208F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4798D6-E258-8418-B445-728FE122F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DB4CD15-D6D6-0AED-3B44-80A560A4EEF0}"/>
              </a:ext>
            </a:extLst>
          </p:cNvPr>
          <p:cNvSpPr txBox="1"/>
          <p:nvPr/>
        </p:nvSpPr>
        <p:spPr>
          <a:xfrm>
            <a:off x="1449128" y="5768910"/>
            <a:ext cx="932962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Przy</a:t>
            </a:r>
            <a:r>
              <a:rPr lang="en-US" dirty="0"/>
              <a:t> </a:t>
            </a:r>
            <a:r>
              <a:rPr lang="en-US" dirty="0" err="1"/>
              <a:t>założeniu</a:t>
            </a:r>
            <a:r>
              <a:rPr lang="en-US" dirty="0"/>
              <a:t> </a:t>
            </a:r>
            <a:r>
              <a:rPr lang="en-US" dirty="0" err="1"/>
              <a:t>marży</a:t>
            </a:r>
            <a:r>
              <a:rPr lang="en-US" dirty="0"/>
              <a:t> 10% </a:t>
            </a:r>
            <a:r>
              <a:rPr lang="en-US" dirty="0" err="1"/>
              <a:t>przy</a:t>
            </a:r>
            <a:r>
              <a:rPr lang="en-US" dirty="0"/>
              <a:t> </a:t>
            </a:r>
            <a:r>
              <a:rPr lang="en-US" dirty="0" err="1"/>
              <a:t>spłaceniu</a:t>
            </a:r>
            <a:r>
              <a:rPr lang="en-US" dirty="0"/>
              <a:t> </a:t>
            </a:r>
            <a:r>
              <a:rPr lang="en-US" dirty="0" err="1"/>
              <a:t>kredytu</a:t>
            </a:r>
            <a:r>
              <a:rPr lang="en-US" dirty="0"/>
              <a:t> 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zarobków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kredycie</a:t>
            </a:r>
            <a:r>
              <a:rPr lang="en-US" dirty="0"/>
              <a:t> w </a:t>
            </a:r>
            <a:r>
              <a:rPr lang="en-US" dirty="0" err="1"/>
              <a:t>wysokości</a:t>
            </a:r>
            <a:r>
              <a:rPr lang="en-US" dirty="0"/>
              <a:t> </a:t>
            </a:r>
            <a:r>
              <a:rPr lang="en-US" dirty="0" err="1"/>
              <a:t>średnio</a:t>
            </a:r>
            <a:r>
              <a:rPr lang="en-US" dirty="0"/>
              <a:t> 10 </a:t>
            </a:r>
            <a:r>
              <a:rPr lang="en-US" dirty="0" err="1"/>
              <a:t>jednostek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stracie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defaultcie</a:t>
            </a:r>
            <a:r>
              <a:rPr lang="en-US" dirty="0"/>
              <a:t> 100 –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próbie</a:t>
            </a:r>
            <a:r>
              <a:rPr lang="en-US" dirty="0"/>
              <a:t> 400 </a:t>
            </a:r>
            <a:r>
              <a:rPr lang="en-US" dirty="0" err="1"/>
              <a:t>klientów</a:t>
            </a:r>
            <a:r>
              <a:rPr lang="en-US" dirty="0"/>
              <a:t> </a:t>
            </a:r>
            <a:r>
              <a:rPr lang="en-US" dirty="0" err="1"/>
              <a:t>nasz</a:t>
            </a:r>
            <a:r>
              <a:rPr lang="en-US" dirty="0"/>
              <a:t> </a:t>
            </a:r>
            <a:r>
              <a:rPr lang="en-US" dirty="0" err="1"/>
              <a:t>wynik</a:t>
            </a:r>
            <a:r>
              <a:rPr lang="en-US" dirty="0"/>
              <a:t> to: 1244. </a:t>
            </a:r>
            <a:r>
              <a:rPr lang="en-US" dirty="0" err="1"/>
              <a:t>Przekłada</a:t>
            </a:r>
            <a:r>
              <a:rPr lang="en-US" dirty="0"/>
              <a:t> </a:t>
            </a:r>
            <a:r>
              <a:rPr lang="en-US" dirty="0" err="1"/>
              <a:t>się</a:t>
            </a:r>
            <a:r>
              <a:rPr lang="en-US" dirty="0"/>
              <a:t> to </a:t>
            </a:r>
            <a:r>
              <a:rPr lang="en-US" dirty="0" err="1"/>
              <a:t>na</a:t>
            </a:r>
            <a:r>
              <a:rPr lang="en-US" dirty="0"/>
              <a:t> accept rate: 67.56% </a:t>
            </a:r>
            <a:r>
              <a:rPr lang="en-US" dirty="0" err="1"/>
              <a:t>oraz</a:t>
            </a:r>
            <a:r>
              <a:rPr lang="en-US" dirty="0"/>
              <a:t> default rate 4.93%.</a:t>
            </a:r>
          </a:p>
        </p:txBody>
      </p:sp>
      <p:pic>
        <p:nvPicPr>
          <p:cNvPr id="9" name="Symbol zastępczy zawartości 8" descr="Obraz zawierający tekst, diagram, zrzut ekranu, Wykres&#10;&#10;Zawartość wygenerowana przez AI może być niepoprawna.">
            <a:extLst>
              <a:ext uri="{FF2B5EF4-FFF2-40B4-BE49-F238E27FC236}">
                <a16:creationId xmlns:a16="http://schemas.microsoft.com/office/drawing/2014/main" id="{23983C94-801D-7DA2-D59B-2202692A74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9566" y="2088639"/>
            <a:ext cx="9238434" cy="3543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75645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07F46-8C2F-C2C6-F0E8-6B2203ADF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Próg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Decyzyjny</a:t>
            </a:r>
            <a:r>
              <a:rPr lang="en-US" dirty="0">
                <a:latin typeface="Calibri"/>
                <a:ea typeface="Calibri"/>
                <a:cs typeface="Calibri"/>
              </a:rPr>
              <a:t> I </a:t>
            </a:r>
            <a:r>
              <a:rPr lang="en-US" dirty="0" err="1">
                <a:latin typeface="Calibri"/>
                <a:ea typeface="Calibri"/>
                <a:cs typeface="Calibri"/>
              </a:rPr>
              <a:t>wpływ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biznesowy</a:t>
            </a:r>
            <a:r>
              <a:rPr lang="en-US" dirty="0">
                <a:latin typeface="Calibri"/>
                <a:ea typeface="Calibri"/>
                <a:cs typeface="Calibri"/>
              </a:rPr>
              <a:t> – black box</a:t>
            </a:r>
          </a:p>
        </p:txBody>
      </p:sp>
      <p:pic>
        <p:nvPicPr>
          <p:cNvPr id="7" name="Content Placeholder 6" descr="A graph of a graph and a graph of a graph&#10;&#10;AI-generated content may be incorrect.">
            <a:extLst>
              <a:ext uri="{FF2B5EF4-FFF2-40B4-BE49-F238E27FC236}">
                <a16:creationId xmlns:a16="http://schemas.microsoft.com/office/drawing/2014/main" id="{F648D43D-072D-E771-713B-3DF0784F7B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29566" y="2052360"/>
            <a:ext cx="9238434" cy="356253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172FCE-DA4E-67E1-48C3-63589665E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E0C613-8EA2-49AF-AAE4-34430B334CE9}" type="datetime1">
              <a:t>02.12.2025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A7F96C-C7AB-484A-20D2-EB452644AC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20A55-687A-4EF3-BC83-CB7521B610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5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BFAD21-3615-27F6-371C-5B473727ECB2}"/>
              </a:ext>
            </a:extLst>
          </p:cNvPr>
          <p:cNvSpPr txBox="1"/>
          <p:nvPr/>
        </p:nvSpPr>
        <p:spPr>
          <a:xfrm>
            <a:off x="1449128" y="5768910"/>
            <a:ext cx="9329625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Przy</a:t>
            </a:r>
            <a:r>
              <a:rPr lang="en-US" dirty="0"/>
              <a:t> </a:t>
            </a:r>
            <a:r>
              <a:rPr lang="en-US" dirty="0" err="1"/>
              <a:t>założeniu</a:t>
            </a:r>
            <a:r>
              <a:rPr lang="en-US" dirty="0"/>
              <a:t> </a:t>
            </a:r>
            <a:r>
              <a:rPr lang="en-US" dirty="0" err="1"/>
              <a:t>marży</a:t>
            </a:r>
            <a:r>
              <a:rPr lang="en-US" dirty="0"/>
              <a:t> 10% </a:t>
            </a:r>
            <a:r>
              <a:rPr lang="en-US" dirty="0" err="1"/>
              <a:t>przy</a:t>
            </a:r>
            <a:r>
              <a:rPr lang="en-US" dirty="0"/>
              <a:t> </a:t>
            </a:r>
            <a:r>
              <a:rPr lang="en-US" dirty="0" err="1"/>
              <a:t>spłaceniu</a:t>
            </a:r>
            <a:r>
              <a:rPr lang="en-US" dirty="0"/>
              <a:t> </a:t>
            </a:r>
            <a:r>
              <a:rPr lang="en-US" dirty="0" err="1"/>
              <a:t>kredytu</a:t>
            </a:r>
            <a:r>
              <a:rPr lang="en-US" dirty="0"/>
              <a:t> 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zarobków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kredycie</a:t>
            </a:r>
            <a:r>
              <a:rPr lang="en-US" dirty="0"/>
              <a:t> w </a:t>
            </a:r>
            <a:r>
              <a:rPr lang="en-US" dirty="0" err="1"/>
              <a:t>wysokości</a:t>
            </a:r>
            <a:r>
              <a:rPr lang="en-US" dirty="0"/>
              <a:t> </a:t>
            </a:r>
            <a:r>
              <a:rPr lang="en-US" dirty="0" err="1"/>
              <a:t>średnio</a:t>
            </a:r>
            <a:r>
              <a:rPr lang="en-US" dirty="0"/>
              <a:t> 10 </a:t>
            </a:r>
            <a:r>
              <a:rPr lang="en-US" dirty="0" err="1"/>
              <a:t>jednostek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stracie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defaultcie</a:t>
            </a:r>
            <a:r>
              <a:rPr lang="en-US" dirty="0"/>
              <a:t> 100 –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próbie</a:t>
            </a:r>
            <a:r>
              <a:rPr lang="en-US" dirty="0"/>
              <a:t> 400 </a:t>
            </a:r>
            <a:r>
              <a:rPr lang="en-US" dirty="0" err="1"/>
              <a:t>klientów</a:t>
            </a:r>
            <a:r>
              <a:rPr lang="en-US" dirty="0"/>
              <a:t> </a:t>
            </a:r>
            <a:r>
              <a:rPr lang="en-US" dirty="0" err="1"/>
              <a:t>nasz</a:t>
            </a:r>
            <a:r>
              <a:rPr lang="en-US" dirty="0"/>
              <a:t> </a:t>
            </a:r>
            <a:r>
              <a:rPr lang="en-US" dirty="0" err="1"/>
              <a:t>wynik</a:t>
            </a:r>
            <a:r>
              <a:rPr lang="en-US" dirty="0"/>
              <a:t> to: 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1057. </a:t>
            </a:r>
            <a:r>
              <a:rPr lang="en-US" dirty="0" err="1">
                <a:solidFill>
                  <a:srgbClr val="FFFFFF"/>
                </a:solidFill>
                <a:latin typeface="Trade Gothic Next Light"/>
              </a:rPr>
              <a:t>Przekłada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 </a:t>
            </a:r>
            <a:r>
              <a:rPr lang="en-US" dirty="0" err="1">
                <a:solidFill>
                  <a:srgbClr val="FFFFFF"/>
                </a:solidFill>
                <a:latin typeface="Trade Gothic Next Light"/>
              </a:rPr>
              <a:t>się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 to </a:t>
            </a:r>
            <a:r>
              <a:rPr lang="en-US" dirty="0" err="1">
                <a:solidFill>
                  <a:srgbClr val="FFFFFF"/>
                </a:solidFill>
                <a:latin typeface="Trade Gothic Next Light"/>
              </a:rPr>
              <a:t>na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 accept rate: 74.89% </a:t>
            </a:r>
            <a:r>
              <a:rPr lang="en-US" dirty="0" err="1">
                <a:solidFill>
                  <a:srgbClr val="FFFFFF"/>
                </a:solidFill>
                <a:latin typeface="Trade Gothic Next Light"/>
              </a:rPr>
              <a:t>oraz</a:t>
            </a:r>
            <a:r>
              <a:rPr lang="en-US" dirty="0">
                <a:solidFill>
                  <a:srgbClr val="FFFFFF"/>
                </a:solidFill>
                <a:latin typeface="Trade Gothic Next Light"/>
              </a:rPr>
              <a:t> default rate 5.93%.</a:t>
            </a:r>
            <a:endParaRPr lang="en-US" sz="1100" dirty="0">
              <a:solidFill>
                <a:srgbClr val="CCCCCC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98434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88DE925-11F5-9366-74B9-C7C347737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Interpretacja globalna - regresja</a:t>
            </a:r>
          </a:p>
        </p:txBody>
      </p:sp>
      <p:pic>
        <p:nvPicPr>
          <p:cNvPr id="4" name="Content Placeholder 3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4CD965F0-5265-0905-67BF-BB5DD32C79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9839" y="2173941"/>
            <a:ext cx="6386593" cy="3810000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D1FE2FD-A7FD-BE13-326F-5109AD5962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6827980"/>
              </p:ext>
            </p:extLst>
          </p:nvPr>
        </p:nvGraphicFramePr>
        <p:xfrm>
          <a:off x="7519147" y="3126441"/>
          <a:ext cx="3980426" cy="2505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0600">
                  <a:extLst>
                    <a:ext uri="{9D8B030D-6E8A-4147-A177-3AD203B41FA5}">
                      <a16:colId xmlns:a16="http://schemas.microsoft.com/office/drawing/2014/main" val="2730290564"/>
                    </a:ext>
                  </a:extLst>
                </a:gridCol>
                <a:gridCol w="1689826">
                  <a:extLst>
                    <a:ext uri="{9D8B030D-6E8A-4147-A177-3AD203B41FA5}">
                      <a16:colId xmlns:a16="http://schemas.microsoft.com/office/drawing/2014/main" val="1320747504"/>
                    </a:ext>
                  </a:extLst>
                </a:gridCol>
              </a:tblGrid>
              <a:tr h="417537"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noProof="0" dirty="0" err="1">
                          <a:latin typeface="Trade Gothic Next Light"/>
                        </a:rPr>
                        <a:t>Przedział</a:t>
                      </a: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 </a:t>
                      </a:r>
                      <a:r>
                        <a:rPr lang="en-US" sz="1800" b="0" i="0" u="none" strike="noStrike" noProof="0" dirty="0" err="1">
                          <a:latin typeface="Trade Gothic Next Light"/>
                        </a:rPr>
                        <a:t>biznesowy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WoE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9845821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(-inf, 1.04]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-0.146603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0469774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(1.04, 1.30]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-0.210625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6647693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(1.30, 1.81]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-0.744440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5539005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(1.81, 3.23]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-0.085825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6439410"/>
                  </a:ext>
                </a:extLst>
              </a:tr>
              <a:tr h="417537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3.23, inf]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 dirty="0">
                          <a:latin typeface="Trade Gothic Next Light"/>
                        </a:rPr>
                        <a:t>0.725235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5091811"/>
                  </a:ext>
                </a:extLst>
              </a:tr>
            </a:tbl>
          </a:graphicData>
        </a:graphic>
      </p:graphicFrame>
      <p:sp>
        <p:nvSpPr>
          <p:cNvPr id="3" name="pole tekstowe 2">
            <a:extLst>
              <a:ext uri="{FF2B5EF4-FFF2-40B4-BE49-F238E27FC236}">
                <a16:creationId xmlns:a16="http://schemas.microsoft.com/office/drawing/2014/main" id="{0A324B48-A114-F0B2-AE38-4231E87EFDA6}"/>
              </a:ext>
            </a:extLst>
          </p:cNvPr>
          <p:cNvSpPr txBox="1"/>
          <p:nvPr/>
        </p:nvSpPr>
        <p:spPr>
          <a:xfrm>
            <a:off x="7519147" y="2173941"/>
            <a:ext cx="38660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Profilo</a:t>
            </a:r>
            <a:r>
              <a:rPr lang="pl-PL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pl-PL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WoE</a:t>
            </a:r>
            <a:r>
              <a:rPr lang="pl-PL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dla wskaźnika mnożnika kapitału własnego:</a:t>
            </a:r>
          </a:p>
        </p:txBody>
      </p:sp>
    </p:spTree>
    <p:extLst>
      <p:ext uri="{BB962C8B-B14F-4D97-AF65-F5344CB8AC3E}">
        <p14:creationId xmlns:p14="http://schemas.microsoft.com/office/powerpoint/2010/main" val="15805196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95B09-68BE-AE91-E8C9-EA31AA771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alibri"/>
                <a:ea typeface="Calibri"/>
                <a:cs typeface="Calibri"/>
              </a:rPr>
              <a:t>Dane </a:t>
            </a:r>
            <a:r>
              <a:rPr lang="en-US" err="1">
                <a:latin typeface="Calibri"/>
                <a:ea typeface="Calibri"/>
                <a:cs typeface="Calibri"/>
              </a:rPr>
              <a:t>klienta</a:t>
            </a:r>
            <a:r>
              <a:rPr lang="en-US" dirty="0">
                <a:latin typeface="Calibri"/>
                <a:ea typeface="Calibri"/>
                <a:cs typeface="Calibri"/>
              </a:rPr>
              <a:t> – </a:t>
            </a:r>
            <a:r>
              <a:rPr lang="en-US" err="1">
                <a:latin typeface="Calibri"/>
                <a:ea typeface="Calibri"/>
                <a:cs typeface="Calibri"/>
              </a:rPr>
              <a:t>analiza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zmiany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wskaźnika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mnożnika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kapitału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własnego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na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predykcję</a:t>
            </a:r>
            <a:endParaRPr lang="en-US">
              <a:latin typeface="Calibri"/>
              <a:ea typeface="Calibri"/>
              <a:cs typeface="Calibri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D76A-5A65-5BB8-2354-D8987E7ABA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0EEF0-31D2-4846-A48F-4F898E20454F}" type="datetime1">
              <a:rPr lang="pl-PL"/>
              <a:t>02.12.2025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9B6B9-3721-3AF7-DDF4-AF780E932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52AF8-4104-2ACF-B4D5-7CA82E763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7</a:t>
            </a:fld>
            <a:endParaRPr lang="en-US" dirty="0"/>
          </a:p>
        </p:txBody>
      </p:sp>
      <p:pic>
        <p:nvPicPr>
          <p:cNvPr id="7" name="Symbol zastępczy zawartości 6" descr="Obraz zawierający tekst, zrzut ekranu, Czcionka, numer&#10;&#10;Zawartość wygenerowana przez AI może być niepoprawna.">
            <a:extLst>
              <a:ext uri="{FF2B5EF4-FFF2-40B4-BE49-F238E27FC236}">
                <a16:creationId xmlns:a16="http://schemas.microsoft.com/office/drawing/2014/main" id="{F4D6A66A-3AD7-9B5F-0E21-393D045321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8671" y="2173918"/>
            <a:ext cx="7927042" cy="247762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E019C9F-C66C-5D54-AD73-7D11B10EA98D}"/>
              </a:ext>
            </a:extLst>
          </p:cNvPr>
          <p:cNvSpPr txBox="1"/>
          <p:nvPr/>
        </p:nvSpPr>
        <p:spPr>
          <a:xfrm>
            <a:off x="9108744" y="7509039"/>
            <a:ext cx="231598" cy="109876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 err="1"/>
              <a:t>Prawdopodobieństwo</a:t>
            </a:r>
            <a:r>
              <a:rPr lang="en-US" dirty="0"/>
              <a:t> </a:t>
            </a:r>
            <a:r>
              <a:rPr lang="en-US" dirty="0" err="1"/>
              <a:t>modelu</a:t>
            </a:r>
            <a:r>
              <a:rPr lang="en-US" dirty="0"/>
              <a:t> </a:t>
            </a:r>
            <a:r>
              <a:rPr lang="en-US" dirty="0" err="1"/>
              <a:t>przed</a:t>
            </a:r>
            <a:r>
              <a:rPr lang="en-US" dirty="0"/>
              <a:t> </a:t>
            </a:r>
            <a:r>
              <a:rPr lang="en-US" dirty="0" err="1"/>
              <a:t>zmianą</a:t>
            </a:r>
            <a:r>
              <a:rPr lang="en-US" dirty="0"/>
              <a:t>:</a:t>
            </a:r>
          </a:p>
          <a:p>
            <a:r>
              <a:rPr lang="en-US" sz="1200" dirty="0">
                <a:solidFill>
                  <a:srgbClr val="E3E3E3"/>
                </a:solidFill>
                <a:ea typeface="+mn-lt"/>
                <a:cs typeface="+mn-lt"/>
              </a:rPr>
              <a:t>6.91%</a:t>
            </a:r>
            <a:endParaRPr lang="en-US" dirty="0">
              <a:ea typeface="+mn-lt"/>
              <a:cs typeface="+mn-lt"/>
            </a:endParaRP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B0448F6-8E0B-6ABC-B82C-F9A93D8C33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8385793"/>
              </p:ext>
            </p:extLst>
          </p:nvPr>
        </p:nvGraphicFramePr>
        <p:xfrm>
          <a:off x="265043" y="5124173"/>
          <a:ext cx="11547723" cy="138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2608">
                  <a:extLst>
                    <a:ext uri="{9D8B030D-6E8A-4147-A177-3AD203B41FA5}">
                      <a16:colId xmlns:a16="http://schemas.microsoft.com/office/drawing/2014/main" val="3616746182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44200537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996075121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1061376333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3347020848"/>
                    </a:ext>
                  </a:extLst>
                </a:gridCol>
                <a:gridCol w="1923023">
                  <a:extLst>
                    <a:ext uri="{9D8B030D-6E8A-4147-A177-3AD203B41FA5}">
                      <a16:colId xmlns:a16="http://schemas.microsoft.com/office/drawing/2014/main" val="16246270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1" i="0" u="none" strike="noStrike" noProof="0" err="1">
                          <a:solidFill>
                            <a:schemeClr val="bg1"/>
                          </a:solidFill>
                          <a:latin typeface="Trade Gothic Next Light"/>
                        </a:rPr>
                        <a:t>Wskaźnik</a:t>
                      </a:r>
                      <a:endParaRPr lang="en-US" sz="1800" b="0" i="0" u="none" strike="noStrike" noProof="0">
                        <a:solidFill>
                          <a:schemeClr val="bg1"/>
                        </a:solidFill>
                        <a:latin typeface="Trade Gothic Next Light"/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Koszyk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bg1"/>
                          </a:solidFill>
                        </a:rPr>
                        <a:t>WoE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bg1"/>
                          </a:solidFill>
                        </a:rPr>
                        <a:t>Prawdopodobieństwo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bg1"/>
                          </a:solidFill>
                        </a:rPr>
                        <a:t>Predykcja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4355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err="1">
                          <a:solidFill>
                            <a:schemeClr val="bg1"/>
                          </a:solidFill>
                        </a:rPr>
                        <a:t>Przed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6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(3.23, inf]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0.725235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6.9134%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6701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Po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(1.81, 3.23]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</a:rPr>
                        <a:t>-0.085825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chemeClr val="bg1"/>
                          </a:solidFill>
                          <a:latin typeface="Trade Gothic Next Light"/>
                        </a:rPr>
                        <a:t>3.8219%</a:t>
                      </a:r>
                      <a:endParaRPr lang="en-US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solidFill>
                            <a:schemeClr val="bg1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466626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5AD341E-BB7D-1779-2E38-8447881AE7D3}"/>
              </a:ext>
            </a:extLst>
          </p:cNvPr>
          <p:cNvSpPr txBox="1"/>
          <p:nvPr/>
        </p:nvSpPr>
        <p:spPr>
          <a:xfrm flipH="1" flipV="1">
            <a:off x="12569669" y="5863192"/>
            <a:ext cx="1519582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err="1"/>
              <a:t>Prawdopodobieństwo</a:t>
            </a:r>
            <a:endParaRPr lang="en-US"/>
          </a:p>
          <a:p>
            <a:r>
              <a:rPr lang="en-US" dirty="0"/>
              <a:t>po </a:t>
            </a:r>
            <a:r>
              <a:rPr lang="en-US" dirty="0" err="1"/>
              <a:t>zmianie</a:t>
            </a:r>
            <a:r>
              <a:rPr lang="en-US" dirty="0"/>
              <a:t>: </a:t>
            </a:r>
            <a:r>
              <a:rPr lang="en-US" dirty="0">
                <a:ea typeface="+mn-lt"/>
                <a:cs typeface="+mn-lt"/>
              </a:rPr>
              <a:t> 3.82%</a:t>
            </a:r>
          </a:p>
        </p:txBody>
      </p:sp>
    </p:spTree>
    <p:extLst>
      <p:ext uri="{BB962C8B-B14F-4D97-AF65-F5344CB8AC3E}">
        <p14:creationId xmlns:p14="http://schemas.microsoft.com/office/powerpoint/2010/main" val="30810657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01C180-F1C0-F9AD-4F30-398E20361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BF40868-D773-BA50-DE9E-42704C0B9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Interpretacja Globalna - </a:t>
            </a:r>
            <a:r>
              <a:rPr lang="pl-PL" dirty="0" err="1"/>
              <a:t>black</a:t>
            </a:r>
            <a:r>
              <a:rPr lang="pl-PL" dirty="0"/>
              <a:t> </a:t>
            </a:r>
            <a:r>
              <a:rPr lang="pl-PL" dirty="0" err="1"/>
              <a:t>box</a:t>
            </a:r>
            <a:endParaRPr lang="pl-PL" dirty="0"/>
          </a:p>
        </p:txBody>
      </p:sp>
      <p:pic>
        <p:nvPicPr>
          <p:cNvPr id="4" name="Symbol zastępczy zawartości 3" descr="Obraz zawierający tekst, zrzut ekranu, numer, Czcionka&#10;&#10;Zawartość wygenerowana przez AI może być niepoprawna.">
            <a:extLst>
              <a:ext uri="{FF2B5EF4-FFF2-40B4-BE49-F238E27FC236}">
                <a16:creationId xmlns:a16="http://schemas.microsoft.com/office/drawing/2014/main" id="{317CA854-244B-82C9-D621-510CC16B669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8869" y="1902937"/>
            <a:ext cx="11349998" cy="4603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113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692D17A-95C5-7162-DD14-7801873CC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sz="2000"/>
              <a:t>Wyniki dla </a:t>
            </a:r>
            <a:r>
              <a:rPr lang="pl-PL" sz="2000" err="1"/>
              <a:t>pkdKod</a:t>
            </a:r>
            <a:r>
              <a:rPr lang="pl-PL" sz="2000"/>
              <a:t>  - 6201 - „Działalność związana z oprogramowaniem”</a:t>
            </a:r>
          </a:p>
        </p:txBody>
      </p:sp>
      <p:pic>
        <p:nvPicPr>
          <p:cNvPr id="7" name="Symbol zastępczy zawartości 6" descr="Obraz zawierający tekst, numer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DC281507-6104-5064-DA61-F87B4A88DD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2145" y="1895914"/>
            <a:ext cx="11414264" cy="4516725"/>
          </a:xfrm>
          <a:prstGeom prst="rect">
            <a:avLst/>
          </a:prstGeom>
        </p:spPr>
      </p:pic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BB2FD21-CCF8-212E-1D89-88EAA0267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AC423-9313-454E-A098-8D3021A3AC0B}" type="datetime1">
              <a:rPr lang="pl-PL"/>
              <a:t>02.12.2025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A7A2711-FF1B-0672-D7C3-268BE0E01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99F9838-E2BD-C51C-1DFB-C1231E5EB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752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DFBD3B6C-4E0E-66CE-9E94-320DE3C9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Interpretacja lokalna - </a:t>
            </a:r>
            <a:r>
              <a:rPr lang="pl-PL" dirty="0" err="1"/>
              <a:t>black</a:t>
            </a:r>
            <a:r>
              <a:rPr lang="pl-PL" dirty="0"/>
              <a:t> Box</a:t>
            </a:r>
            <a:r>
              <a:rPr lang="pl-PL"/>
              <a:t> – </a:t>
            </a:r>
            <a:r>
              <a:rPr lang="pl-PL" err="1"/>
              <a:t>missed</a:t>
            </a:r>
            <a:r>
              <a:rPr lang="pl-PL"/>
              <a:t> </a:t>
            </a:r>
            <a:r>
              <a:rPr lang="pl-PL" err="1"/>
              <a:t>Default</a:t>
            </a:r>
          </a:p>
        </p:txBody>
      </p:sp>
      <p:pic>
        <p:nvPicPr>
          <p:cNvPr id="4" name="Symbol zastępczy zawartości 3" descr="Obraz zawierający tekst, numer, diagram, Czcionka&#10;&#10;Zawartość wygenerowana przez AI może być niepoprawna.">
            <a:extLst>
              <a:ext uri="{FF2B5EF4-FFF2-40B4-BE49-F238E27FC236}">
                <a16:creationId xmlns:a16="http://schemas.microsoft.com/office/drawing/2014/main" id="{9B7F568D-0C3B-D4BA-E1CF-20BD94E1FD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488" y="2467267"/>
            <a:ext cx="12192488" cy="3332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0642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220D2-C51A-8C62-244B-7881A2AB80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54BAA4-702A-B4E3-3166-FBEDDC18D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Interpretacja lokalna - </a:t>
            </a:r>
            <a:r>
              <a:rPr lang="pl-PL" err="1"/>
              <a:t>black</a:t>
            </a:r>
            <a:r>
              <a:rPr lang="pl-PL"/>
              <a:t> Box – True default</a:t>
            </a:r>
          </a:p>
        </p:txBody>
      </p:sp>
      <p:pic>
        <p:nvPicPr>
          <p:cNvPr id="6" name="Symbol zastępczy zawartości 5" descr="Obraz zawierający tekst, zrzut ekranu, diagram, numer&#10;&#10;Zawartość wygenerowana przez AI może być niepoprawna.">
            <a:extLst>
              <a:ext uri="{FF2B5EF4-FFF2-40B4-BE49-F238E27FC236}">
                <a16:creationId xmlns:a16="http://schemas.microsoft.com/office/drawing/2014/main" id="{46A2B1A2-A9CC-0A9C-A40D-B539AFFCAA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2640" y="2515755"/>
            <a:ext cx="12011011" cy="3109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40104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F94DE-B165-6465-DA01-6C0AE1D90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Ryzyka</a:t>
            </a:r>
            <a:r>
              <a:rPr lang="en-US" dirty="0"/>
              <a:t> </a:t>
            </a:r>
            <a:r>
              <a:rPr lang="en-US" dirty="0" err="1"/>
              <a:t>oraz</a:t>
            </a:r>
            <a:r>
              <a:rPr lang="en-US" dirty="0"/>
              <a:t> </a:t>
            </a:r>
            <a:r>
              <a:rPr lang="en-US" dirty="0" err="1"/>
              <a:t>limity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10D77-46C0-1E7C-DD05-34D3D2D8B7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Reprezentatywność próby: Model bazuje na danych historycznych. Nagła zmiana koniunktury gospodarczej może wymagać rekalibracji (ryzyko niestabilności makroekonomicznej). Należy śledzić PSI/CSI.</a:t>
            </a:r>
          </a:p>
          <a:p>
            <a:r>
              <a:rPr lang="en-US">
                <a:ea typeface="+mn-lt"/>
                <a:cs typeface="+mn-lt"/>
              </a:rPr>
              <a:t>Black-box: Model Black-Box wydaje się nieco przeuczony, może mieć momentami problemy dla nowych danych.</a:t>
            </a:r>
          </a:p>
          <a:p>
            <a:r>
              <a:rPr lang="en-US">
                <a:ea typeface="+mn-lt"/>
                <a:cs typeface="+mn-lt"/>
              </a:rPr>
              <a:t>Złożone zależności Na regresji logistycznej ryzyko, że koszyki WoE nie odzwierciedlą prawdziwych danych.</a:t>
            </a:r>
          </a:p>
          <a:p>
            <a:pPr marL="0" indent="0">
              <a:buNone/>
            </a:pPr>
            <a:endParaRPr lang="en-US">
              <a:ea typeface="+mn-lt"/>
              <a:cs typeface="+mn-lt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7F836-0108-17FC-392A-8A3EF17D9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E1EBF-D5B7-43F2-A5E2-415383AEF6CD}" type="datetime1">
              <a:t>02.12.2025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29211-B19E-E817-968A-4291FE460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E13CB8-0518-0EC2-8F93-37A9F3C3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00839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A6518D-C4A0-7360-C4B1-AAA8C8FF7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Dziękujemy za uwagę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240EB0BA-B8FF-12E1-BD2E-A38271B38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DCE1E82-2445-CB5B-F5BF-630F14D2C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60714-C537-4438-9452-296D528D6BEB}" type="datetime1">
              <a:t>02.12.2025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12F05D4-4511-231D-E34E-57755D473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E004AD1-93AE-99D5-1963-6A376AD7C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6A61CA-0502-4EE4-9724-96EA822543E5}" type="slidenum">
              <a:rPr lang="en-US" dirty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6905173"/>
      </p:ext>
    </p:extLst>
  </p:cSld>
  <p:clrMapOvr>
    <a:masterClrMapping/>
  </p:clrMapOvr>
</p:sld>
</file>

<file path=ppt/theme/theme1.xml><?xml version="1.0" encoding="utf-8"?>
<a:theme xmlns:a="http://schemas.openxmlformats.org/drawingml/2006/main" name="PortalVTI">
  <a:themeElements>
    <a:clrScheme name="PortalVTI">
      <a:dk1>
        <a:sysClr val="windowText" lastClr="000000"/>
      </a:dk1>
      <a:lt1>
        <a:sysClr val="window" lastClr="FFFFFF"/>
      </a:lt1>
      <a:dk2>
        <a:srgbClr val="051618"/>
      </a:dk2>
      <a:lt2>
        <a:srgbClr val="E8E8DF"/>
      </a:lt2>
      <a:accent1>
        <a:srgbClr val="2D714C"/>
      </a:accent1>
      <a:accent2>
        <a:srgbClr val="1F7985"/>
      </a:accent2>
      <a:accent3>
        <a:srgbClr val="0D6756"/>
      </a:accent3>
      <a:accent4>
        <a:srgbClr val="40945E"/>
      </a:accent4>
      <a:accent5>
        <a:srgbClr val="389896"/>
      </a:accent5>
      <a:accent6>
        <a:srgbClr val="64924A"/>
      </a:accent6>
      <a:hlink>
        <a:srgbClr val="1F855C"/>
      </a:hlink>
      <a:folHlink>
        <a:srgbClr val="227390"/>
      </a:folHlink>
    </a:clrScheme>
    <a:fontScheme name="PortalVTI">
      <a:majorFont>
        <a:latin typeface="Trade Gothic Next Cond"/>
        <a:ea typeface=""/>
        <a:cs typeface=""/>
      </a:majorFont>
      <a:minorFont>
        <a:latin typeface="Trade Gothic Next Light"/>
        <a:ea typeface=""/>
        <a:cs typeface=""/>
      </a:minorFont>
    </a:fontScheme>
    <a:fmtScheme name="Portal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ortalVTI" id="{E3A4BB4D-5227-4A6D-99D3-DBAB0FE4C68F}" vid="{BE515EFD-5A7A-4BFE-BE06-A21DB8499CD2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467</Words>
  <Application>Microsoft Office PowerPoint</Application>
  <PresentationFormat>Panoramiczny</PresentationFormat>
  <Paragraphs>82</Paragraphs>
  <Slides>13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13</vt:i4>
      </vt:variant>
    </vt:vector>
  </HeadingPairs>
  <TitlesOfParts>
    <vt:vector size="19" baseType="lpstr">
      <vt:lpstr>Arial</vt:lpstr>
      <vt:lpstr>Calibri</vt:lpstr>
      <vt:lpstr>Consolas</vt:lpstr>
      <vt:lpstr>Trade Gothic Next Cond</vt:lpstr>
      <vt:lpstr>Trade Gothic Next Light</vt:lpstr>
      <vt:lpstr>PortalVTI</vt:lpstr>
      <vt:lpstr>Automatyzacja Oceny Ryzyka Kredytowego Przedsiębiorstw Budowa, kalibracja i interpretacja systemu ratingowego </vt:lpstr>
      <vt:lpstr>Wyzwanie Biznesowe (PROBLEM) 📉</vt:lpstr>
      <vt:lpstr>Dane Wejściowe, ograniczenia i target</vt:lpstr>
      <vt:lpstr>Próg Decyzyjny I wpływ biznesowy – black box</vt:lpstr>
      <vt:lpstr>Próg Decyzyjny I wpływ biznesowy – black box</vt:lpstr>
      <vt:lpstr>Interpretacja globalna - regresja</vt:lpstr>
      <vt:lpstr>Dane klienta – analiza zmiany wskaźnika mnożnika kapitału własnego na predykcję</vt:lpstr>
      <vt:lpstr>Interpretacja Globalna - black box</vt:lpstr>
      <vt:lpstr>Wyniki dla pkdKod  - 6201 - „Działalność związana z oprogramowaniem”</vt:lpstr>
      <vt:lpstr>Interpretacja lokalna - black Box – missed Default</vt:lpstr>
      <vt:lpstr>Interpretacja lokalna - black Box – True default</vt:lpstr>
      <vt:lpstr>Ryzyka oraz limity</vt:lpstr>
      <vt:lpstr>Dziękujemy za uwagę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Piotr Wysocki</cp:lastModifiedBy>
  <cp:revision>623</cp:revision>
  <dcterms:created xsi:type="dcterms:W3CDTF">2025-12-01T19:51:00Z</dcterms:created>
  <dcterms:modified xsi:type="dcterms:W3CDTF">2025-12-02T15:01:30Z</dcterms:modified>
</cp:coreProperties>
</file>